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webp" ContentType="image/webp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5" r:id="rId16"/>
    <p:sldId id="268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Informe, capítulos I y II. Imagen: anitec-landing-page/assets/images/home/hero-section.png</a:t>
            </a:r>
          </a:p>
          <a:p>
            <a:r>
              <a:t>Abrir con la idea central: llevar la gestión desde el escritorio hacia el lugar donde ocurre 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1.2.1 Antecedentes y problemática; entrevistas 2.2.3.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Objetivo consolidado a partir de los capítulos I y II. Imagen: anitec-frontend/public/dashboardVeterinario.png.</a:t>
            </a:r>
          </a:p>
          <a:p>
            <a:r>
              <a:t>Cerrar conectando la evolución móvil con la continuidad sanitaria y la gestión diaria.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1.3 Segmentos objetivo. Imágenes del landing page de AniTec.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2.2.3 Análisis de entrevistas. Muestra: 3 ganaderos y 2 veterinarios.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2.3.3 User Journey Mapping. Imagen: User-Ganadero-Journey.png.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1.1.1, 1.2.1 y matriz de coherencia de 2.4.1.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Repositorios anitec-landing-page, anitec-frontend y anitec-backend. Captura: screen-2.png.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1.2.2 Lean UX Process. Imagen: lean_ux_canvas.png.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2.1 Competidores. Competidores: Livestock Manager, AgriWebb e iLivestock.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2.5 y 2.6. Bounded contexts: IAM, Profiles, Livestock, Sanitary, Veterinary Collaboration, Activities, Financial, Subscriptions,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Síntesis del informe y repositorios actuales. El desarrollo móvil se presenta como siguiente etapa, no como funcionalidad ya terminada.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Informe 2.4.3 Product Backlog. Distribución: Sprint 1 = 21, Sprint 2 = 21, Sprint 3 =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Statement del curso: TB1 semana 7, AV2 semana 12 y TB2 semana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web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web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5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Imagen 8"/>
          <p:cNvPicPr>
            <a:picLocks noChangeAspect="1"/>
          </p:cNvPicPr>
          <p:nvPr/>
        </p:nvPicPr>
        <p:blipFill>
          <a:blip r:embed="rId1"/>
          <a:srcRect l="22500" r="22500"/>
          <a:stretch>
            <a:fillRect/>
          </a:stretch>
        </p:blipFill>
        <p:spPr>
          <a:xfrm>
            <a:off x="5905500" y="0"/>
            <a:ext cx="6286500" cy="6858000"/>
          </a:xfrm>
          <a:prstGeom prst="rect">
            <a:avLst/>
          </a:prstGeom>
        </p:spPr>
      </p:pic>
      <p:sp>
        <p:nvSpPr>
          <p:cNvPr id="2" name="Rectángulos 1"/>
          <p:cNvSpPr>
            <a:spLocks noGrp="1"/>
          </p:cNvSpPr>
          <p:nvPr/>
        </p:nvSpPr>
        <p:spPr>
          <a:xfrm>
            <a:off x="5524500" y="0"/>
            <a:ext cx="857250" cy="6858000"/>
          </a:xfrm>
          <a:prstGeom prst="rect">
            <a:avLst/>
          </a:prstGeom>
          <a:solidFill>
            <a:srgbClr val="24452E"/>
          </a:solidFill>
          <a:ln w="0">
            <a:noFill/>
            <a:prstDash val="solid"/>
          </a:ln>
        </p:spPr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047750" cy="1047750"/>
          </a:xfrm>
          <a:prstGeom prst="rect">
            <a:avLst/>
          </a:prstGeom>
        </p:spPr>
      </p:pic>
      <p:sp>
        <p:nvSpPr>
          <p:cNvPr id="4" name="Rectángulos 3"/>
          <p:cNvSpPr>
            <a:spLocks noGrp="1"/>
          </p:cNvSpPr>
          <p:nvPr/>
        </p:nvSpPr>
        <p:spPr>
          <a:xfrm>
            <a:off x="609600" y="20764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</a:t>
            </a:r>
            <a:endParaRPr sz="4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ángulos 4"/>
          <p:cNvSpPr>
            <a:spLocks noGrp="1"/>
          </p:cNvSpPr>
          <p:nvPr/>
        </p:nvSpPr>
        <p:spPr>
          <a:xfrm>
            <a:off x="609600" y="2800350"/>
            <a:ext cx="47625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Gestión ganadera que acompaña el trabajo de campo</a:t>
            </a:r>
            <a:endParaRPr sz="21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Conector recto 5"/>
          <p:cNvSpPr>
            <a:spLocks noGrp="1"/>
          </p:cNvSpPr>
          <p:nvPr/>
        </p:nvSpPr>
        <p:spPr>
          <a:xfrm>
            <a:off x="609600" y="4267200"/>
            <a:ext cx="1028700" cy="0"/>
          </a:xfrm>
          <a:prstGeom prst="line">
            <a:avLst/>
          </a:prstGeom>
          <a:noFill/>
          <a:ln w="57150">
            <a:solidFill>
              <a:srgbClr val="E7A33E"/>
            </a:solidFill>
            <a:prstDash val="solid"/>
          </a:ln>
        </p:spPr>
      </p:sp>
      <p:sp>
        <p:nvSpPr>
          <p:cNvPr id="7" name="Rectángulos 6"/>
          <p:cNvSpPr>
            <a:spLocks noGrp="1"/>
          </p:cNvSpPr>
          <p:nvPr/>
        </p:nvSpPr>
        <p:spPr>
          <a:xfrm>
            <a:off x="609600" y="4495800"/>
            <a:ext cx="3810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Avance del proyecto</a:t>
            </a:r>
            <a:endParaRPr sz="150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Capítulos I y II</a:t>
            </a:r>
            <a:endParaRPr sz="150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609600" y="6096000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E5D4B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E5D4B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Aplicaciones para Dispositivos Móviles · 2026</a:t>
            </a:r>
            <a:endParaRPr sz="1050" b="0">
              <a:solidFill>
                <a:srgbClr val="E5D4B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ángulos 15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 información existe, pero está dispersa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problema aparece cuando el registro debe hacerse en el campo y la conexión no acompaña.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"/>
          <a:srcRect l="5357" r="5357"/>
          <a:stretch>
            <a:fillRect/>
          </a:stretch>
        </p:blipFill>
        <p:spPr>
          <a:xfrm>
            <a:off x="6858000" y="819150"/>
            <a:ext cx="4762500" cy="5334000"/>
          </a:xfrm>
          <a:prstGeom prst="roundRect">
            <a:avLst>
              <a:gd name="adj" fmla="val 4400"/>
            </a:avLst>
          </a:prstGeom>
        </p:spPr>
      </p:pic>
      <p:sp>
        <p:nvSpPr>
          <p:cNvPr id="5" name="Óvalo 4"/>
          <p:cNvSpPr>
            <a:spLocks noGrp="1"/>
          </p:cNvSpPr>
          <p:nvPr/>
        </p:nvSpPr>
        <p:spPr>
          <a:xfrm>
            <a:off x="628650" y="1857375"/>
            <a:ext cx="514350" cy="5143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1333500" y="183832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Cuadernos y mensajes</a:t>
            </a:r>
            <a:endParaRPr sz="16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1333500" y="220980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Historiales repartidos entre papel, hojas de cálculo y WhatsApp.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Óvalo 7"/>
          <p:cNvSpPr>
            <a:spLocks noGrp="1"/>
          </p:cNvSpPr>
          <p:nvPr/>
        </p:nvSpPr>
        <p:spPr>
          <a:xfrm>
            <a:off x="628650" y="3076575"/>
            <a:ext cx="514350" cy="5143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1333500" y="305752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Decisiones con datos incompletos</a:t>
            </a:r>
            <a:endParaRPr sz="16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1333500" y="342900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Ganaderos y veterinarios pierden tiempo buscando antecedentes.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Óvalo 10"/>
          <p:cNvSpPr>
            <a:spLocks noGrp="1"/>
          </p:cNvSpPr>
          <p:nvPr/>
        </p:nvSpPr>
        <p:spPr>
          <a:xfrm>
            <a:off x="628650" y="4295775"/>
            <a:ext cx="514350" cy="514350"/>
          </a:xfrm>
          <a:prstGeom prst="ellipse">
            <a:avLst/>
          </a:prstGeom>
          <a:solidFill>
            <a:srgbClr val="92593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1333500" y="427672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Conectividad intermitente</a:t>
            </a:r>
            <a:endParaRPr sz="16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ángulos 12"/>
          <p:cNvSpPr>
            <a:spLocks noGrp="1"/>
          </p:cNvSpPr>
          <p:nvPr/>
        </p:nvSpPr>
        <p:spPr>
          <a:xfrm>
            <a:off x="1333500" y="464820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Depender de Internet impide registrar el evento cuando ocurre.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5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Imagen 8"/>
          <p:cNvPicPr>
            <a:picLocks noChangeAspect="1"/>
          </p:cNvPicPr>
          <p:nvPr/>
        </p:nvPicPr>
        <p:blipFill>
          <a:blip r:embed="rId1"/>
          <a:srcRect l="20799" r="20799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2" name="Rectángulos 1"/>
          <p:cNvSpPr>
            <a:spLocks noGrp="1"/>
          </p:cNvSpPr>
          <p:nvPr/>
        </p:nvSpPr>
        <p:spPr>
          <a:xfrm>
            <a:off x="5905500" y="0"/>
            <a:ext cx="762000" cy="6858000"/>
          </a:xfrm>
          <a:prstGeom prst="rect">
            <a:avLst/>
          </a:prstGeom>
          <a:solidFill>
            <a:srgbClr val="24452E"/>
          </a:solidFill>
          <a:ln w="0">
            <a:noFill/>
            <a:prstDash val="solid"/>
          </a:ln>
        </p:spPr>
      </p:sp>
      <p:sp>
        <p:nvSpPr>
          <p:cNvPr id="3" name="Rectángulos 2"/>
          <p:cNvSpPr>
            <a:spLocks noGrp="1"/>
          </p:cNvSpPr>
          <p:nvPr/>
        </p:nvSpPr>
        <p:spPr>
          <a:xfrm>
            <a:off x="609600" y="8191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Nuestro objetivo</a:t>
            </a:r>
            <a:endParaRPr sz="135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ángulos 3"/>
          <p:cNvSpPr>
            <a:spLocks noGrp="1"/>
          </p:cNvSpPr>
          <p:nvPr/>
        </p:nvSpPr>
        <p:spPr>
          <a:xfrm>
            <a:off x="609600" y="1428750"/>
            <a:ext cx="47625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 la información del animal esté disponible cuando más importa</a:t>
            </a:r>
            <a:endParaRPr sz="3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Conector recto 4"/>
          <p:cNvSpPr>
            <a:spLocks noGrp="1"/>
          </p:cNvSpPr>
          <p:nvPr/>
        </p:nvSpPr>
        <p:spPr>
          <a:xfrm>
            <a:off x="609600" y="3581400"/>
            <a:ext cx="1047750" cy="0"/>
          </a:xfrm>
          <a:prstGeom prst="line">
            <a:avLst/>
          </a:prstGeom>
          <a:noFill/>
          <a:ln w="57150">
            <a:solidFill>
              <a:srgbClr val="E7A33E"/>
            </a:solidFill>
            <a:prstDash val="solid"/>
          </a:ln>
        </p:spPr>
      </p:sp>
      <p:sp>
        <p:nvSpPr>
          <p:cNvPr id="6" name="Rectángulos 5"/>
          <p:cNvSpPr>
            <a:spLocks noGrp="1"/>
          </p:cNvSpPr>
          <p:nvPr/>
        </p:nvSpPr>
        <p:spPr>
          <a:xfrm>
            <a:off x="609600" y="3905250"/>
            <a:ext cx="4524375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Registrar en el campo.</a:t>
            </a:r>
            <a:endParaRPr sz="16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6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 continuidad a la atención.</a:t>
            </a:r>
            <a:endParaRPr sz="16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6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Decidir con información ordenada.</a:t>
            </a:r>
            <a:endParaRPr sz="16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609600" y="59245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E5D4B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5D4B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Titan</a:t>
            </a:r>
            <a:endParaRPr sz="1200" b="1">
              <a:solidFill>
                <a:srgbClr val="E5D4B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55816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900" b="1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ángulos 14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Dos usuarios, una misma historia del animal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prioriza a quienes registran y utilizan la información en cada atención.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1"/>
          <a:srcRect t="5682" b="5682"/>
          <a:stretch>
            <a:fillRect/>
          </a:stretch>
        </p:blipFill>
        <p:spPr>
          <a:xfrm>
            <a:off x="609600" y="1666875"/>
            <a:ext cx="4191000" cy="3714750"/>
          </a:xfrm>
          <a:prstGeom prst="roundRect">
            <a:avLst>
              <a:gd name="adj" fmla="val 6667"/>
            </a:avLst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2"/>
          <a:srcRect t="5682" b="5682"/>
          <a:stretch>
            <a:fillRect/>
          </a:stretch>
        </p:blipFill>
        <p:spPr>
          <a:xfrm>
            <a:off x="7391400" y="1666875"/>
            <a:ext cx="4191000" cy="371475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Rectángulo con esquinas redondeadas 5"/>
          <p:cNvSpPr>
            <a:spLocks noGrp="1"/>
          </p:cNvSpPr>
          <p:nvPr/>
        </p:nvSpPr>
        <p:spPr>
          <a:xfrm>
            <a:off x="4457700" y="2333625"/>
            <a:ext cx="3276600" cy="2381250"/>
          </a:xfrm>
          <a:prstGeom prst="roundRect">
            <a:avLst>
              <a:gd name="adj" fmla="val 11200"/>
            </a:avLst>
          </a:prstGeom>
          <a:solidFill>
            <a:srgbClr val="24452E"/>
          </a:solidFill>
          <a:ln w="0">
            <a:noFill/>
            <a:prstDash val="solid"/>
          </a:ln>
        </p:spPr>
      </p:sp>
      <p:sp>
        <p:nvSpPr>
          <p:cNvPr id="7" name="Rectángulos 6"/>
          <p:cNvSpPr>
            <a:spLocks noGrp="1"/>
          </p:cNvSpPr>
          <p:nvPr/>
        </p:nvSpPr>
        <p:spPr>
          <a:xfrm>
            <a:off x="4762500" y="2724150"/>
            <a:ext cx="266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HISTORIAL</a:t>
            </a:r>
            <a:endParaRPr sz="19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9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COMPARTIDO</a:t>
            </a:r>
            <a:endParaRPr sz="19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4857750" y="3667125"/>
            <a:ext cx="24765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Permisos claros</a:t>
            </a:r>
            <a:endParaRPr sz="13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Seguimiento continuo</a:t>
            </a:r>
            <a:endParaRPr sz="13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Información trazable</a:t>
            </a:r>
            <a:endParaRPr sz="13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609600" y="556260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Ganadero</a:t>
            </a:r>
            <a:endParaRPr sz="18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781050" y="5905500"/>
            <a:ext cx="38481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 animales, actividades y alertas sanitarias.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7391400" y="556260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Veterinario</a:t>
            </a:r>
            <a:endParaRPr sz="180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7562850" y="5905500"/>
            <a:ext cx="38481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Consulta antecedentes autorizados y documenta la atención.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ángulos 12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ángulos 21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 investigación confirmó el costo del desorden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Cinco entrevistas exploratorias orientan el problema, los flujos y la experiencia móvil.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1"/>
          <a:srcRect l="4262" r="4262"/>
          <a:stretch>
            <a:fillRect/>
          </a:stretch>
        </p:blipFill>
        <p:spPr>
          <a:xfrm>
            <a:off x="609600" y="1714500"/>
            <a:ext cx="2571750" cy="1809750"/>
          </a:xfrm>
          <a:prstGeom prst="roundRect">
            <a:avLst>
              <a:gd name="adj" fmla="val 9474"/>
            </a:avLst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2"/>
          <a:srcRect l="8635" r="8635"/>
          <a:stretch>
            <a:fillRect/>
          </a:stretch>
        </p:blipFill>
        <p:spPr>
          <a:xfrm>
            <a:off x="609600" y="3790950"/>
            <a:ext cx="2571750" cy="1809750"/>
          </a:xfrm>
          <a:prstGeom prst="roundRect">
            <a:avLst>
              <a:gd name="adj" fmla="val 9474"/>
            </a:avLst>
          </a:prstGeom>
        </p:spPr>
      </p:pic>
      <p:sp>
        <p:nvSpPr>
          <p:cNvPr id="6" name="Rectángulos 5"/>
          <p:cNvSpPr>
            <a:spLocks noGrp="1"/>
          </p:cNvSpPr>
          <p:nvPr/>
        </p:nvSpPr>
        <p:spPr>
          <a:xfrm>
            <a:off x="3714750" y="18097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de 3</a:t>
            </a:r>
            <a:endParaRPr sz="315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Conector recto 6"/>
          <p:cNvSpPr>
            <a:spLocks noGrp="1"/>
          </p:cNvSpPr>
          <p:nvPr/>
        </p:nvSpPr>
        <p:spPr>
          <a:xfrm>
            <a:off x="3714750" y="2438400"/>
            <a:ext cx="704850" cy="0"/>
          </a:xfrm>
          <a:prstGeom prst="line">
            <a:avLst/>
          </a:prstGeom>
          <a:noFill/>
          <a:ln w="38100">
            <a:solidFill>
              <a:srgbClr val="E7A33E"/>
            </a:solidFill>
            <a:prstDash val="solid"/>
          </a:ln>
        </p:spPr>
      </p:sp>
      <p:sp>
        <p:nvSpPr>
          <p:cNvPr id="8" name="Rectángulos 7"/>
          <p:cNvSpPr>
            <a:spLocks noGrp="1"/>
          </p:cNvSpPr>
          <p:nvPr/>
        </p:nvSpPr>
        <p:spPr>
          <a:xfrm>
            <a:off x="3714750" y="2609850"/>
            <a:ext cx="31432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ganaderos usan registros manuales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7620000" y="180975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de 3</a:t>
            </a:r>
            <a:endParaRPr sz="315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nector recto 9"/>
          <p:cNvSpPr>
            <a:spLocks noGrp="1"/>
          </p:cNvSpPr>
          <p:nvPr/>
        </p:nvSpPr>
        <p:spPr>
          <a:xfrm>
            <a:off x="7620000" y="2438400"/>
            <a:ext cx="704850" cy="0"/>
          </a:xfrm>
          <a:prstGeom prst="line">
            <a:avLst/>
          </a:prstGeom>
          <a:noFill/>
          <a:ln w="38100">
            <a:solidFill>
              <a:srgbClr val="E7A33E"/>
            </a:solidFill>
            <a:prstDash val="solid"/>
          </a:ln>
        </p:spPr>
      </p:sp>
      <p:sp>
        <p:nvSpPr>
          <p:cNvPr id="11" name="Rectángulos 10"/>
          <p:cNvSpPr>
            <a:spLocks noGrp="1"/>
          </p:cNvSpPr>
          <p:nvPr/>
        </p:nvSpPr>
        <p:spPr>
          <a:xfrm>
            <a:off x="7620000" y="2609850"/>
            <a:ext cx="31432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usan el celular como canal habitual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3714750" y="361950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de 2</a:t>
            </a:r>
            <a:endParaRPr sz="315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Conector recto 12"/>
          <p:cNvSpPr>
            <a:spLocks noGrp="1"/>
          </p:cNvSpPr>
          <p:nvPr/>
        </p:nvSpPr>
        <p:spPr>
          <a:xfrm>
            <a:off x="3714750" y="4248150"/>
            <a:ext cx="704850" cy="0"/>
          </a:xfrm>
          <a:prstGeom prst="line">
            <a:avLst/>
          </a:prstGeom>
          <a:noFill/>
          <a:ln w="38100">
            <a:solidFill>
              <a:srgbClr val="E7A33E"/>
            </a:solidFill>
            <a:prstDash val="solid"/>
          </a:ln>
        </p:spPr>
      </p:sp>
      <p:sp>
        <p:nvSpPr>
          <p:cNvPr id="14" name="Rectángulos 13"/>
          <p:cNvSpPr>
            <a:spLocks noGrp="1"/>
          </p:cNvSpPr>
          <p:nvPr/>
        </p:nvSpPr>
        <p:spPr>
          <a:xfrm>
            <a:off x="3714750" y="4419600"/>
            <a:ext cx="31432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veterinarios encuentran información dispersa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7620000" y="3619500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de 2</a:t>
            </a:r>
            <a:endParaRPr sz="315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Conector recto 15"/>
          <p:cNvSpPr>
            <a:spLocks noGrp="1"/>
          </p:cNvSpPr>
          <p:nvPr/>
        </p:nvSpPr>
        <p:spPr>
          <a:xfrm>
            <a:off x="7620000" y="4248150"/>
            <a:ext cx="704850" cy="0"/>
          </a:xfrm>
          <a:prstGeom prst="line">
            <a:avLst/>
          </a:prstGeom>
          <a:noFill/>
          <a:ln w="38100">
            <a:solidFill>
              <a:srgbClr val="E7A33E"/>
            </a:solidFill>
            <a:prstDash val="solid"/>
          </a:ln>
        </p:spPr>
      </p:sp>
      <p:sp>
        <p:nvSpPr>
          <p:cNvPr id="17" name="Rectángulos 16"/>
          <p:cNvSpPr>
            <a:spLocks noGrp="1"/>
          </p:cNvSpPr>
          <p:nvPr/>
        </p:nvSpPr>
        <p:spPr>
          <a:xfrm>
            <a:off x="7620000" y="4419600"/>
            <a:ext cx="314325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necesitan historial clínico previo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ángulo con esquinas redondeadas 17"/>
          <p:cNvSpPr>
            <a:spLocks noGrp="1"/>
          </p:cNvSpPr>
          <p:nvPr/>
        </p:nvSpPr>
        <p:spPr>
          <a:xfrm>
            <a:off x="3714750" y="5524500"/>
            <a:ext cx="7810500" cy="590550"/>
          </a:xfrm>
          <a:prstGeom prst="roundRect">
            <a:avLst>
              <a:gd name="adj" fmla="val 22581"/>
            </a:avLst>
          </a:prstGeom>
          <a:solidFill>
            <a:srgbClr val="F5F0E6"/>
          </a:solidFill>
          <a:ln w="0">
            <a:noFill/>
            <a:prstDash val="solid"/>
          </a:ln>
        </p:spPr>
      </p:sp>
      <p:sp>
        <p:nvSpPr>
          <p:cNvPr id="19" name="Rectángulos 18"/>
          <p:cNvSpPr>
            <a:spLocks noGrp="1"/>
          </p:cNvSpPr>
          <p:nvPr/>
        </p:nvSpPr>
        <p:spPr>
          <a:xfrm>
            <a:off x="3981450" y="5686425"/>
            <a:ext cx="7334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Hallazgo transversal: la herramienta debe ser simple, rápida y útil con conectividad limitada.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ángulos 19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ángulos 20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ángulos 17"/>
          <p:cNvSpPr>
            <a:spLocks noGrp="1"/>
          </p:cNvSpPr>
          <p:nvPr/>
        </p:nvSpPr>
        <p:spPr>
          <a:xfrm>
            <a:off x="609600" y="438150"/>
            <a:ext cx="8477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momento crítico ocurre después de registrar</a:t>
            </a:r>
            <a:endParaRPr sz="25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1028700"/>
            <a:ext cx="8858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recorrido actual se rompe cuando hay que recordar, encontrar o compartir la información.</a:t>
            </a:r>
            <a:endParaRPr sz="13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7173" y="1657350"/>
            <a:ext cx="4794353" cy="4171950"/>
          </a:xfrm>
          <a:prstGeom prst="roundRect">
            <a:avLst>
              <a:gd name="adj" fmla="val 4110"/>
            </a:avLst>
          </a:prstGeom>
        </p:spPr>
      </p:pic>
      <p:sp>
        <p:nvSpPr>
          <p:cNvPr id="4" name="Óvalo 3"/>
          <p:cNvSpPr>
            <a:spLocks noGrp="1"/>
          </p:cNvSpPr>
          <p:nvPr/>
        </p:nvSpPr>
        <p:spPr>
          <a:xfrm>
            <a:off x="8458200" y="1981200"/>
            <a:ext cx="323850" cy="323850"/>
          </a:xfrm>
          <a:prstGeom prst="ellipse">
            <a:avLst/>
          </a:prstGeom>
          <a:solidFill>
            <a:srgbClr val="79B26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1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ángulos 4"/>
          <p:cNvSpPr>
            <a:spLocks noGrp="1"/>
          </p:cNvSpPr>
          <p:nvPr/>
        </p:nvSpPr>
        <p:spPr>
          <a:xfrm>
            <a:off x="8953500" y="195262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8953500" y="22193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Anota nacimientos, vacunas y tratamientos.</a:t>
            </a:r>
            <a:endParaRPr sz="120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Óvalo 6"/>
          <p:cNvSpPr>
            <a:spLocks noGrp="1"/>
          </p:cNvSpPr>
          <p:nvPr/>
        </p:nvSpPr>
        <p:spPr>
          <a:xfrm>
            <a:off x="8458200" y="3028950"/>
            <a:ext cx="323850" cy="323850"/>
          </a:xfrm>
          <a:prstGeom prst="ellipse">
            <a:avLst/>
          </a:prstGeom>
          <a:solidFill>
            <a:srgbClr val="79B26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1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8953500" y="30003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BUSCA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8953500" y="32670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Revisa papeles y conversaciones para encontrar fechas.</a:t>
            </a:r>
            <a:endParaRPr sz="120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Óvalo 9"/>
          <p:cNvSpPr>
            <a:spLocks noGrp="1"/>
          </p:cNvSpPr>
          <p:nvPr/>
        </p:nvSpPr>
        <p:spPr>
          <a:xfrm>
            <a:off x="8458200" y="4076700"/>
            <a:ext cx="323850" cy="323850"/>
          </a:xfrm>
          <a:prstGeom prst="ellipse">
            <a:avLst/>
          </a:prstGeom>
          <a:solidFill>
            <a:srgbClr val="79B267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1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8953500" y="404812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DECIDE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8953500" y="43148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Actúa con dudas si el antecedente no aparece.</a:t>
            </a:r>
            <a:endParaRPr sz="120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Óvalo 12"/>
          <p:cNvSpPr>
            <a:spLocks noGrp="1"/>
          </p:cNvSpPr>
          <p:nvPr/>
        </p:nvSpPr>
        <p:spPr>
          <a:xfrm>
            <a:off x="8458200" y="5124450"/>
            <a:ext cx="323850" cy="323850"/>
          </a:xfrm>
          <a:prstGeom prst="ellipse">
            <a:avLst/>
          </a:prstGeom>
          <a:solidFill>
            <a:srgbClr val="E7A33E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1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8953500" y="50958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RETRABAJA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8953500" y="53625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Vuelve a registrar o reconstruye información perdida.</a:t>
            </a:r>
            <a:endParaRPr sz="120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s 15"/>
          <p:cNvSpPr>
            <a:spLocks noGrp="1"/>
          </p:cNvSpPr>
          <p:nvPr/>
        </p:nvSpPr>
        <p:spPr>
          <a:xfrm>
            <a:off x="609600" y="61531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E5D4B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E5D4B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Fuente: User Journey As-Is del ganadero</a:t>
            </a:r>
            <a:endParaRPr sz="900" b="0">
              <a:solidFill>
                <a:srgbClr val="E5D4B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ángulos 16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900" b="1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ángulos 27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convierte el teléfono en una herramienta de campo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 aplicación móvil extiende una base web existente y concentra las tareas que necesitan resolverse en el momento.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sp>
        <p:nvSpPr>
          <p:cNvPr id="4" name="Óvalo 3"/>
          <p:cNvSpPr>
            <a:spLocks noGrp="1"/>
          </p:cNvSpPr>
          <p:nvPr/>
        </p:nvSpPr>
        <p:spPr>
          <a:xfrm>
            <a:off x="1171575" y="2095500"/>
            <a:ext cx="666750" cy="6667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6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Conector recto 4"/>
          <p:cNvSpPr>
            <a:spLocks noGrp="1"/>
          </p:cNvSpPr>
          <p:nvPr/>
        </p:nvSpPr>
        <p:spPr>
          <a:xfrm>
            <a:off x="1885950" y="2428875"/>
            <a:ext cx="971550" cy="0"/>
          </a:xfrm>
          <a:prstGeom prst="line">
            <a:avLst/>
          </a:prstGeom>
          <a:noFill/>
          <a:ln w="47625">
            <a:solidFill>
              <a:srgbClr val="E5D4BD"/>
            </a:solidFill>
            <a:prstDash val="solid"/>
          </a:ln>
        </p:spPr>
      </p:sp>
      <p:sp>
        <p:nvSpPr>
          <p:cNvPr id="6" name="Rectángulos 5"/>
          <p:cNvSpPr>
            <a:spLocks noGrp="1"/>
          </p:cNvSpPr>
          <p:nvPr/>
        </p:nvSpPr>
        <p:spPr>
          <a:xfrm>
            <a:off x="647700" y="3000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Identificar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647700" y="33718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QR o búsqueda manual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Óvalo 7"/>
          <p:cNvSpPr>
            <a:spLocks noGrp="1"/>
          </p:cNvSpPr>
          <p:nvPr/>
        </p:nvSpPr>
        <p:spPr>
          <a:xfrm>
            <a:off x="3457575" y="2095500"/>
            <a:ext cx="666750" cy="6667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6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Conector recto 8"/>
          <p:cNvSpPr>
            <a:spLocks noGrp="1"/>
          </p:cNvSpPr>
          <p:nvPr/>
        </p:nvSpPr>
        <p:spPr>
          <a:xfrm>
            <a:off x="4171950" y="2428875"/>
            <a:ext cx="971550" cy="0"/>
          </a:xfrm>
          <a:prstGeom prst="line">
            <a:avLst/>
          </a:prstGeom>
          <a:noFill/>
          <a:ln w="47625">
            <a:solidFill>
              <a:srgbClr val="E5D4BD"/>
            </a:solidFill>
            <a:prstDash val="solid"/>
          </a:ln>
        </p:spPr>
      </p:sp>
      <p:sp>
        <p:nvSpPr>
          <p:cNvPr id="10" name="Rectángulos 9"/>
          <p:cNvSpPr>
            <a:spLocks noGrp="1"/>
          </p:cNvSpPr>
          <p:nvPr/>
        </p:nvSpPr>
        <p:spPr>
          <a:xfrm>
            <a:off x="2933700" y="3000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Registrar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2933700" y="33718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Animal, atención o actividad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Óvalo 11"/>
          <p:cNvSpPr>
            <a:spLocks noGrp="1"/>
          </p:cNvSpPr>
          <p:nvPr/>
        </p:nvSpPr>
        <p:spPr>
          <a:xfrm>
            <a:off x="5743575" y="2095500"/>
            <a:ext cx="666750" cy="666750"/>
          </a:xfrm>
          <a:prstGeom prst="ellipse">
            <a:avLst/>
          </a:prstGeom>
          <a:solidFill>
            <a:srgbClr val="E7A33E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6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Conector recto 12"/>
          <p:cNvSpPr>
            <a:spLocks noGrp="1"/>
          </p:cNvSpPr>
          <p:nvPr/>
        </p:nvSpPr>
        <p:spPr>
          <a:xfrm>
            <a:off x="6457950" y="2428875"/>
            <a:ext cx="971550" cy="0"/>
          </a:xfrm>
          <a:prstGeom prst="line">
            <a:avLst/>
          </a:prstGeom>
          <a:noFill/>
          <a:ln w="47625">
            <a:solidFill>
              <a:srgbClr val="E5D4BD"/>
            </a:solidFill>
            <a:prstDash val="solid"/>
          </a:ln>
        </p:spPr>
      </p:sp>
      <p:sp>
        <p:nvSpPr>
          <p:cNvPr id="14" name="Rectángulos 13"/>
          <p:cNvSpPr>
            <a:spLocks noGrp="1"/>
          </p:cNvSpPr>
          <p:nvPr/>
        </p:nvSpPr>
        <p:spPr>
          <a:xfrm>
            <a:off x="5219700" y="3000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Continuar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5219700" y="33718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Guardar localmente si no hay red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Óvalo 15"/>
          <p:cNvSpPr>
            <a:spLocks noGrp="1"/>
          </p:cNvSpPr>
          <p:nvPr/>
        </p:nvSpPr>
        <p:spPr>
          <a:xfrm>
            <a:off x="8029575" y="2095500"/>
            <a:ext cx="666750" cy="6667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6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Conector recto 16"/>
          <p:cNvSpPr>
            <a:spLocks noGrp="1"/>
          </p:cNvSpPr>
          <p:nvPr/>
        </p:nvSpPr>
        <p:spPr>
          <a:xfrm>
            <a:off x="8743950" y="2428875"/>
            <a:ext cx="971550" cy="0"/>
          </a:xfrm>
          <a:prstGeom prst="line">
            <a:avLst/>
          </a:prstGeom>
          <a:noFill/>
          <a:ln w="47625">
            <a:solidFill>
              <a:srgbClr val="E5D4BD"/>
            </a:solidFill>
            <a:prstDash val="solid"/>
          </a:ln>
        </p:spPr>
      </p:sp>
      <p:sp>
        <p:nvSpPr>
          <p:cNvPr id="18" name="Rectángulos 17"/>
          <p:cNvSpPr>
            <a:spLocks noGrp="1"/>
          </p:cNvSpPr>
          <p:nvPr/>
        </p:nvSpPr>
        <p:spPr>
          <a:xfrm>
            <a:off x="7505700" y="3000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Sincronizar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ángulos 18"/>
          <p:cNvSpPr>
            <a:spLocks noGrp="1"/>
          </p:cNvSpPr>
          <p:nvPr/>
        </p:nvSpPr>
        <p:spPr>
          <a:xfrm>
            <a:off x="7505700" y="33718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Actualizar el historial sin duplicados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Óvalo 19"/>
          <p:cNvSpPr>
            <a:spLocks noGrp="1"/>
          </p:cNvSpPr>
          <p:nvPr/>
        </p:nvSpPr>
        <p:spPr>
          <a:xfrm>
            <a:off x="10315575" y="2095500"/>
            <a:ext cx="666750" cy="6667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6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ángulos 20"/>
          <p:cNvSpPr>
            <a:spLocks noGrp="1"/>
          </p:cNvSpPr>
          <p:nvPr/>
        </p:nvSpPr>
        <p:spPr>
          <a:xfrm>
            <a:off x="9791700" y="3000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Decidir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ángulos 21"/>
          <p:cNvSpPr>
            <a:spLocks noGrp="1"/>
          </p:cNvSpPr>
          <p:nvPr/>
        </p:nvSpPr>
        <p:spPr>
          <a:xfrm>
            <a:off x="9791700" y="33718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Alertas e indicadores claros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ángulo con esquinas redondeadas 22"/>
          <p:cNvSpPr>
            <a:spLocks noGrp="1"/>
          </p:cNvSpPr>
          <p:nvPr/>
        </p:nvSpPr>
        <p:spPr>
          <a:xfrm>
            <a:off x="1238250" y="4476750"/>
            <a:ext cx="9715500" cy="1066800"/>
          </a:xfrm>
          <a:prstGeom prst="roundRect">
            <a:avLst>
              <a:gd name="adj" fmla="val 19643"/>
            </a:avLst>
          </a:prstGeom>
          <a:solidFill>
            <a:srgbClr val="24452E"/>
          </a:solidFill>
          <a:ln w="0">
            <a:noFill/>
            <a:prstDash val="solid"/>
          </a:ln>
        </p:spPr>
      </p:sp>
      <p:sp>
        <p:nvSpPr>
          <p:cNvPr id="24" name="Rectángulos 23"/>
          <p:cNvSpPr>
            <a:spLocks noGrp="1"/>
          </p:cNvSpPr>
          <p:nvPr/>
        </p:nvSpPr>
        <p:spPr>
          <a:xfrm>
            <a:off x="1809750" y="4667250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Una sola experiencia conecta al ganadero, al veterinario y al historial del animal.</a:t>
            </a:r>
            <a:endParaRPr sz="17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ángulos 24"/>
          <p:cNvSpPr>
            <a:spLocks noGrp="1"/>
          </p:cNvSpPr>
          <p:nvPr/>
        </p:nvSpPr>
        <p:spPr>
          <a:xfrm>
            <a:off x="2381250" y="524827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Android nativo + experiencia multiplataforma + API propia</a:t>
            </a:r>
            <a:endParaRPr sz="120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ángulos 25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ángulos 26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ángulos 19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partimos de cero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trabajo anterior aporta una landing page, una aplicación web funcional y una API que ahora se adaptarán al uso móvil.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1"/>
          <a:srcRect t="5722" b="5722"/>
          <a:stretch>
            <a:fillRect/>
          </a:stretch>
        </p:blipFill>
        <p:spPr>
          <a:xfrm>
            <a:off x="609600" y="1676400"/>
            <a:ext cx="7239000" cy="4171950"/>
          </a:xfrm>
          <a:prstGeom prst="roundRect">
            <a:avLst>
              <a:gd name="adj" fmla="val 4566"/>
            </a:avLst>
          </a:prstGeom>
        </p:spPr>
      </p:pic>
      <p:sp>
        <p:nvSpPr>
          <p:cNvPr id="5" name="Rectángulos 4"/>
          <p:cNvSpPr>
            <a:spLocks noGrp="1"/>
          </p:cNvSpPr>
          <p:nvPr/>
        </p:nvSpPr>
        <p:spPr>
          <a:xfrm>
            <a:off x="8305800" y="18097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8991600" y="17716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Landing</a:t>
            </a:r>
            <a:endParaRPr sz="16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8991600" y="2133600"/>
            <a:ext cx="23336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Comunica la propuesta de valor y los segmentos.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ector recto 7"/>
          <p:cNvSpPr>
            <a:spLocks noGrp="1"/>
          </p:cNvSpPr>
          <p:nvPr/>
        </p:nvSpPr>
        <p:spPr>
          <a:xfrm>
            <a:off x="8305800" y="2809875"/>
            <a:ext cx="2952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9" name="Rectángulos 8"/>
          <p:cNvSpPr>
            <a:spLocks noGrp="1"/>
          </p:cNvSpPr>
          <p:nvPr/>
        </p:nvSpPr>
        <p:spPr>
          <a:xfrm>
            <a:off x="8305800" y="30861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8991600" y="30480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Web app</a:t>
            </a:r>
            <a:endParaRPr sz="16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8991600" y="3409950"/>
            <a:ext cx="23336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Valida módulos, roles y recorridos principales.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ector recto 11"/>
          <p:cNvSpPr>
            <a:spLocks noGrp="1"/>
          </p:cNvSpPr>
          <p:nvPr/>
        </p:nvSpPr>
        <p:spPr>
          <a:xfrm>
            <a:off x="8305800" y="4086225"/>
            <a:ext cx="2952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13" name="Rectángulos 12"/>
          <p:cNvSpPr>
            <a:spLocks noGrp="1"/>
          </p:cNvSpPr>
          <p:nvPr/>
        </p:nvSpPr>
        <p:spPr>
          <a:xfrm>
            <a:off x="8305800" y="43624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8991600" y="43243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</a:t>
            </a:r>
            <a:endParaRPr sz="16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8991600" y="4686300"/>
            <a:ext cx="23336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Centraliza reglas, datos y servicios REST.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 con esquinas redondeadas 15"/>
          <p:cNvSpPr>
            <a:spLocks noGrp="1"/>
          </p:cNvSpPr>
          <p:nvPr/>
        </p:nvSpPr>
        <p:spPr>
          <a:xfrm>
            <a:off x="8286750" y="5543550"/>
            <a:ext cx="3048000" cy="590550"/>
          </a:xfrm>
          <a:prstGeom prst="roundRect">
            <a:avLst>
              <a:gd name="adj" fmla="val 19355"/>
            </a:avLst>
          </a:prstGeom>
          <a:solidFill>
            <a:srgbClr val="CFE2D0"/>
          </a:solidFill>
          <a:ln w="0">
            <a:noFill/>
            <a:prstDash val="solid"/>
          </a:ln>
        </p:spPr>
      </p:sp>
      <p:sp>
        <p:nvSpPr>
          <p:cNvPr id="17" name="Rectángulos 16"/>
          <p:cNvSpPr>
            <a:spLocks noGrp="1"/>
          </p:cNvSpPr>
          <p:nvPr/>
        </p:nvSpPr>
        <p:spPr>
          <a:xfrm>
            <a:off x="8477250" y="5629275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 comprobable para la</a:t>
            </a:r>
            <a:endParaRPr sz="1125" b="1">
              <a:solidFill>
                <a:srgbClr val="2445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125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evolución móvil</a:t>
            </a:r>
            <a:endParaRPr sz="1125" b="1">
              <a:solidFill>
                <a:srgbClr val="2445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ángulos 17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ángulos 18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ángulos 16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Las decisiones se formulan como hipótesis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Capítulo I traduce el problema en supuestos que deberán comprobarse con uso real.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42682"/>
            <a:ext cx="4762500" cy="3153636"/>
          </a:xfrm>
          <a:prstGeom prst="roundRect">
            <a:avLst>
              <a:gd name="adj" fmla="val 4615"/>
            </a:avLst>
          </a:prstGeom>
        </p:spPr>
      </p:pic>
      <p:sp>
        <p:nvSpPr>
          <p:cNvPr id="5" name="Rectángulos 4"/>
          <p:cNvSpPr>
            <a:spLocks noGrp="1"/>
          </p:cNvSpPr>
          <p:nvPr/>
        </p:nvSpPr>
        <p:spPr>
          <a:xfrm>
            <a:off x="5962650" y="17145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ADOPCIÓN</a:t>
            </a:r>
            <a:endParaRPr sz="105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5962650" y="20002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Registrar y consultar desde el teléfono aumenta el uso continuo.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5962650" y="26860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SANIDAD</a:t>
            </a:r>
            <a:endParaRPr sz="105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5962650" y="29718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Las alertas reducen actividades olvidadas.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5962650" y="36576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CONTINUIDAD</a:t>
            </a:r>
            <a:endParaRPr sz="105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5962650" y="39433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almacenamiento local evita perder el progreso.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5962650" y="46291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COLABORACIÓN</a:t>
            </a:r>
            <a:endParaRPr sz="105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5962650" y="49149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acceso autorizado mejora el seguimiento veterinario.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ángulo con esquinas redondeadas 12"/>
          <p:cNvSpPr>
            <a:spLocks noGrp="1"/>
          </p:cNvSpPr>
          <p:nvPr/>
        </p:nvSpPr>
        <p:spPr>
          <a:xfrm>
            <a:off x="5962650" y="5619750"/>
            <a:ext cx="5143500" cy="457200"/>
          </a:xfrm>
          <a:prstGeom prst="roundRect">
            <a:avLst>
              <a:gd name="adj" fmla="val 20833"/>
            </a:avLst>
          </a:prstGeom>
          <a:solidFill>
            <a:srgbClr val="F5F0E6"/>
          </a:solidFill>
          <a:ln w="0">
            <a:noFill/>
            <a:prstDash val="solid"/>
          </a:ln>
        </p:spPr>
      </p:sp>
      <p:sp>
        <p:nvSpPr>
          <p:cNvPr id="14" name="Rectángulos 13"/>
          <p:cNvSpPr>
            <a:spLocks noGrp="1"/>
          </p:cNvSpPr>
          <p:nvPr/>
        </p:nvSpPr>
        <p:spPr>
          <a:xfrm>
            <a:off x="6172200" y="5743575"/>
            <a:ext cx="4724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Cada hipótesis define qué medir antes de asumir que la solución funciona.</a:t>
            </a:r>
            <a:endParaRPr sz="1125" b="1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s 15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ángulos 22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diferencial debe demostrarse en el contexto peruano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trabajo offline ya existe en el mercado. AniTec compite en simplicidad, adaptación local y colaboración autorizada.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sp>
        <p:nvSpPr>
          <p:cNvPr id="4" name="Rectángulo con esquinas redondeadas 3"/>
          <p:cNvSpPr>
            <a:spLocks noGrp="1"/>
          </p:cNvSpPr>
          <p:nvPr/>
        </p:nvSpPr>
        <p:spPr>
          <a:xfrm>
            <a:off x="666750" y="1924050"/>
            <a:ext cx="2190750" cy="2524125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9525">
            <a:solidFill>
              <a:srgbClr val="E5D4B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209800"/>
            <a:ext cx="857250" cy="857250"/>
          </a:xfrm>
          <a:prstGeom prst="rect">
            <a:avLst/>
          </a:prstGeom>
        </p:spPr>
      </p:pic>
      <p:sp>
        <p:nvSpPr>
          <p:cNvPr id="6" name="Rectángulos 5"/>
          <p:cNvSpPr>
            <a:spLocks noGrp="1"/>
          </p:cNvSpPr>
          <p:nvPr/>
        </p:nvSpPr>
        <p:spPr>
          <a:xfrm>
            <a:off x="857250" y="33337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Livestock Manager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895350" y="3790950"/>
            <a:ext cx="17335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Entrada accesible y gestión general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 con esquinas redondeadas 7"/>
          <p:cNvSpPr>
            <a:spLocks noGrp="1"/>
          </p:cNvSpPr>
          <p:nvPr/>
        </p:nvSpPr>
        <p:spPr>
          <a:xfrm>
            <a:off x="3238500" y="1924050"/>
            <a:ext cx="2190750" cy="2524125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9525">
            <a:solidFill>
              <a:srgbClr val="E5D4B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465784"/>
            <a:ext cx="1809750" cy="345281"/>
          </a:xfrm>
          <a:prstGeom prst="rect">
            <a:avLst/>
          </a:prstGeom>
        </p:spPr>
      </p:pic>
      <p:sp>
        <p:nvSpPr>
          <p:cNvPr id="10" name="Rectángulos 9"/>
          <p:cNvSpPr>
            <a:spLocks noGrp="1"/>
          </p:cNvSpPr>
          <p:nvPr/>
        </p:nvSpPr>
        <p:spPr>
          <a:xfrm>
            <a:off x="3429000" y="33337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AgriWebb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3467100" y="3790950"/>
            <a:ext cx="17335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Operación amplia y trabajo offline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 con esquinas redondeadas 11"/>
          <p:cNvSpPr>
            <a:spLocks noGrp="1"/>
          </p:cNvSpPr>
          <p:nvPr/>
        </p:nvSpPr>
        <p:spPr>
          <a:xfrm>
            <a:off x="5810250" y="1924050"/>
            <a:ext cx="2190750" cy="2524125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9525">
            <a:solidFill>
              <a:srgbClr val="E5D4B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57450"/>
            <a:ext cx="1428750" cy="361950"/>
          </a:xfrm>
          <a:prstGeom prst="rect">
            <a:avLst/>
          </a:prstGeom>
        </p:spPr>
      </p:pic>
      <p:sp>
        <p:nvSpPr>
          <p:cNvPr id="14" name="Rectángulos 13"/>
          <p:cNvSpPr>
            <a:spLocks noGrp="1"/>
          </p:cNvSpPr>
          <p:nvPr/>
        </p:nvSpPr>
        <p:spPr>
          <a:xfrm>
            <a:off x="6000750" y="33337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iLivestock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6038850" y="3790950"/>
            <a:ext cx="17335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Trazabilidad y herramientas de campo</a:t>
            </a:r>
            <a:endParaRPr sz="11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 con esquinas redondeadas 15"/>
          <p:cNvSpPr>
            <a:spLocks noGrp="1"/>
          </p:cNvSpPr>
          <p:nvPr/>
        </p:nvSpPr>
        <p:spPr>
          <a:xfrm>
            <a:off x="8572500" y="1809750"/>
            <a:ext cx="2857500" cy="3429000"/>
          </a:xfrm>
          <a:prstGeom prst="roundRect">
            <a:avLst>
              <a:gd name="adj" fmla="val 8667"/>
            </a:avLst>
          </a:prstGeom>
          <a:solidFill>
            <a:srgbClr val="24452E"/>
          </a:solidFill>
          <a:ln w="0">
            <a:noFill/>
            <a:prstDash val="solid"/>
          </a:ln>
        </p:spPr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181225"/>
            <a:ext cx="1257300" cy="685800"/>
          </a:xfrm>
          <a:prstGeom prst="rect">
            <a:avLst/>
          </a:prstGeom>
        </p:spPr>
      </p:pic>
      <p:sp>
        <p:nvSpPr>
          <p:cNvPr id="18" name="Rectángulos 17"/>
          <p:cNvSpPr>
            <a:spLocks noGrp="1"/>
          </p:cNvSpPr>
          <p:nvPr/>
        </p:nvSpPr>
        <p:spPr>
          <a:xfrm>
            <a:off x="9048750" y="316230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</a:t>
            </a:r>
            <a:endParaRPr sz="19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ángulos 18"/>
          <p:cNvSpPr>
            <a:spLocks noGrp="1"/>
          </p:cNvSpPr>
          <p:nvPr/>
        </p:nvSpPr>
        <p:spPr>
          <a:xfrm>
            <a:off x="8972550" y="3676650"/>
            <a:ext cx="20574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Lenguaje cercano</a:t>
            </a:r>
            <a:endParaRPr sz="1275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Flujos simples en Android</a:t>
            </a:r>
            <a:endParaRPr sz="1275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Permisos entre ganadero y veterinario</a:t>
            </a:r>
            <a:endParaRPr sz="1275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Uso con conexión intermitente</a:t>
            </a:r>
            <a:endParaRPr sz="1275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ángulos 19"/>
          <p:cNvSpPr>
            <a:spLocks noGrp="1"/>
          </p:cNvSpPr>
          <p:nvPr/>
        </p:nvSpPr>
        <p:spPr>
          <a:xfrm>
            <a:off x="9048750" y="50101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Propuesta por validar</a:t>
            </a:r>
            <a:endParaRPr sz="97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ángulos 20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ángulos 21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ángulos 23"/>
          <p:cNvSpPr>
            <a:spLocks noGrp="1"/>
          </p:cNvSpPr>
          <p:nvPr/>
        </p:nvSpPr>
        <p:spPr>
          <a:xfrm>
            <a:off x="609600" y="41910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Nueve capacidades mantienen el producto coherente</a:t>
            </a:r>
            <a:endParaRPr sz="25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100965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diseño estratégico del Capítulo II separa responsabilidades para que la experiencia crezca sin perder claridad.</a:t>
            </a:r>
            <a:endParaRPr sz="1350" b="0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Óvalo 2"/>
          <p:cNvSpPr>
            <a:spLocks noGrp="1"/>
          </p:cNvSpPr>
          <p:nvPr/>
        </p:nvSpPr>
        <p:spPr>
          <a:xfrm>
            <a:off x="4905375" y="2428875"/>
            <a:ext cx="2381250" cy="2381250"/>
          </a:xfrm>
          <a:prstGeom prst="ellipse">
            <a:avLst/>
          </a:prstGeom>
          <a:solidFill>
            <a:srgbClr val="F5F0E6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</a:t>
            </a:r>
            <a:endParaRPr sz="2700" b="1">
              <a:solidFill>
                <a:srgbClr val="2445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ángulo con esquinas redondeadas 3"/>
          <p:cNvSpPr>
            <a:spLocks noGrp="1"/>
          </p:cNvSpPr>
          <p:nvPr/>
        </p:nvSpPr>
        <p:spPr>
          <a:xfrm>
            <a:off x="1200150" y="18097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4F7F4A"/>
          </a:solidFill>
          <a:ln w="0">
            <a:noFill/>
            <a:prstDash val="solid"/>
          </a:ln>
        </p:spPr>
      </p:sp>
      <p:sp>
        <p:nvSpPr>
          <p:cNvPr id="5" name="Rectángulos 4"/>
          <p:cNvSpPr>
            <a:spLocks noGrp="1"/>
          </p:cNvSpPr>
          <p:nvPr/>
        </p:nvSpPr>
        <p:spPr>
          <a:xfrm>
            <a:off x="1314450" y="20002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Identidad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 con esquinas redondeadas 5"/>
          <p:cNvSpPr>
            <a:spLocks noGrp="1"/>
          </p:cNvSpPr>
          <p:nvPr/>
        </p:nvSpPr>
        <p:spPr>
          <a:xfrm>
            <a:off x="3162300" y="15811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79B267"/>
          </a:solidFill>
          <a:ln w="0">
            <a:noFill/>
            <a:prstDash val="solid"/>
          </a:ln>
        </p:spPr>
      </p:sp>
      <p:sp>
        <p:nvSpPr>
          <p:cNvPr id="7" name="Rectángulos 6"/>
          <p:cNvSpPr>
            <a:spLocks noGrp="1"/>
          </p:cNvSpPr>
          <p:nvPr/>
        </p:nvSpPr>
        <p:spPr>
          <a:xfrm>
            <a:off x="3276600" y="17716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Perfiles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 con esquinas redondeadas 7"/>
          <p:cNvSpPr>
            <a:spLocks noGrp="1"/>
          </p:cNvSpPr>
          <p:nvPr/>
        </p:nvSpPr>
        <p:spPr>
          <a:xfrm>
            <a:off x="7524750" y="15811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E7A33E"/>
          </a:solidFill>
          <a:ln w="0">
            <a:noFill/>
            <a:prstDash val="solid"/>
          </a:ln>
        </p:spPr>
      </p:sp>
      <p:sp>
        <p:nvSpPr>
          <p:cNvPr id="9" name="Rectángulos 8"/>
          <p:cNvSpPr>
            <a:spLocks noGrp="1"/>
          </p:cNvSpPr>
          <p:nvPr/>
        </p:nvSpPr>
        <p:spPr>
          <a:xfrm>
            <a:off x="7639050" y="17716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Ganado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 con esquinas redondeadas 9"/>
          <p:cNvSpPr>
            <a:spLocks noGrp="1"/>
          </p:cNvSpPr>
          <p:nvPr/>
        </p:nvSpPr>
        <p:spPr>
          <a:xfrm>
            <a:off x="9563100" y="18097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925930"/>
          </a:solidFill>
          <a:ln w="0">
            <a:noFill/>
            <a:prstDash val="solid"/>
          </a:ln>
        </p:spPr>
      </p:sp>
      <p:sp>
        <p:nvSpPr>
          <p:cNvPr id="11" name="Rectángulos 10"/>
          <p:cNvSpPr>
            <a:spLocks noGrp="1"/>
          </p:cNvSpPr>
          <p:nvPr/>
        </p:nvSpPr>
        <p:spPr>
          <a:xfrm>
            <a:off x="9677400" y="20002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Sanidad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 con esquinas redondeadas 11"/>
          <p:cNvSpPr>
            <a:spLocks noGrp="1"/>
          </p:cNvSpPr>
          <p:nvPr/>
        </p:nvSpPr>
        <p:spPr>
          <a:xfrm>
            <a:off x="9239250" y="37147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4F7F4A"/>
          </a:solidFill>
          <a:ln w="0">
            <a:noFill/>
            <a:prstDash val="solid"/>
          </a:ln>
        </p:spPr>
      </p:sp>
      <p:sp>
        <p:nvSpPr>
          <p:cNvPr id="13" name="Rectángulos 12"/>
          <p:cNvSpPr>
            <a:spLocks noGrp="1"/>
          </p:cNvSpPr>
          <p:nvPr/>
        </p:nvSpPr>
        <p:spPr>
          <a:xfrm>
            <a:off x="9353550" y="39052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Colaboración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 con esquinas redondeadas 13"/>
          <p:cNvSpPr>
            <a:spLocks noGrp="1"/>
          </p:cNvSpPr>
          <p:nvPr/>
        </p:nvSpPr>
        <p:spPr>
          <a:xfrm>
            <a:off x="7543800" y="495300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79B267"/>
          </a:solidFill>
          <a:ln w="0">
            <a:noFill/>
            <a:prstDash val="solid"/>
          </a:ln>
        </p:spPr>
      </p:sp>
      <p:sp>
        <p:nvSpPr>
          <p:cNvPr id="15" name="Rectángulos 14"/>
          <p:cNvSpPr>
            <a:spLocks noGrp="1"/>
          </p:cNvSpPr>
          <p:nvPr/>
        </p:nvSpPr>
        <p:spPr>
          <a:xfrm>
            <a:off x="7658100" y="514350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Actividades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 con esquinas redondeadas 15"/>
          <p:cNvSpPr>
            <a:spLocks noGrp="1"/>
          </p:cNvSpPr>
          <p:nvPr/>
        </p:nvSpPr>
        <p:spPr>
          <a:xfrm>
            <a:off x="3200400" y="495300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E7A33E"/>
          </a:solidFill>
          <a:ln w="0">
            <a:noFill/>
            <a:prstDash val="solid"/>
          </a:ln>
        </p:spPr>
      </p:sp>
      <p:sp>
        <p:nvSpPr>
          <p:cNvPr id="17" name="Rectángulos 16"/>
          <p:cNvSpPr>
            <a:spLocks noGrp="1"/>
          </p:cNvSpPr>
          <p:nvPr/>
        </p:nvSpPr>
        <p:spPr>
          <a:xfrm>
            <a:off x="3314700" y="514350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Finanzas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ángulo con esquinas redondeadas 17"/>
          <p:cNvSpPr>
            <a:spLocks noGrp="1"/>
          </p:cNvSpPr>
          <p:nvPr/>
        </p:nvSpPr>
        <p:spPr>
          <a:xfrm>
            <a:off x="1200150" y="37147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925930"/>
          </a:solidFill>
          <a:ln w="0">
            <a:noFill/>
            <a:prstDash val="solid"/>
          </a:ln>
        </p:spPr>
      </p:sp>
      <p:sp>
        <p:nvSpPr>
          <p:cNvPr id="19" name="Rectángulos 18"/>
          <p:cNvSpPr>
            <a:spLocks noGrp="1"/>
          </p:cNvSpPr>
          <p:nvPr/>
        </p:nvSpPr>
        <p:spPr>
          <a:xfrm>
            <a:off x="1314450" y="39052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Suscripciones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ángulo con esquinas redondeadas 19"/>
          <p:cNvSpPr>
            <a:spLocks noGrp="1"/>
          </p:cNvSpPr>
          <p:nvPr/>
        </p:nvSpPr>
        <p:spPr>
          <a:xfrm>
            <a:off x="5219700" y="5238750"/>
            <a:ext cx="1619250" cy="628650"/>
          </a:xfrm>
          <a:prstGeom prst="roundRect">
            <a:avLst>
              <a:gd name="adj" fmla="val 50000"/>
            </a:avLst>
          </a:prstGeom>
          <a:solidFill>
            <a:srgbClr val="4F7F4A"/>
          </a:solidFill>
          <a:ln w="0">
            <a:noFill/>
            <a:prstDash val="solid"/>
          </a:ln>
        </p:spPr>
      </p:sp>
      <p:sp>
        <p:nvSpPr>
          <p:cNvPr id="21" name="Rectángulos 20"/>
          <p:cNvSpPr>
            <a:spLocks noGrp="1"/>
          </p:cNvSpPr>
          <p:nvPr/>
        </p:nvSpPr>
        <p:spPr>
          <a:xfrm>
            <a:off x="5334000" y="5429250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Analítica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ángulos 21"/>
          <p:cNvSpPr>
            <a:spLocks noGrp="1"/>
          </p:cNvSpPr>
          <p:nvPr/>
        </p:nvSpPr>
        <p:spPr>
          <a:xfrm>
            <a:off x="4162425" y="3848100"/>
            <a:ext cx="38671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Diseño listo para traducirse a Android y Flutter</a:t>
            </a:r>
            <a:endParaRPr sz="1350" b="1">
              <a:solidFill>
                <a:srgbClr val="2445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ángulos 22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CFE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900" b="1">
              <a:solidFill>
                <a:srgbClr val="CFE2D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Rectángulos 45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Avance actual: una base definida y trazable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Los Capítulos I y II ya conectan el problema, la evidencia, el alcance y el diseño de la solución.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sp>
        <p:nvSpPr>
          <p:cNvPr id="4" name="Rectángulos 3"/>
          <p:cNvSpPr>
            <a:spLocks noGrp="1"/>
          </p:cNvSpPr>
          <p:nvPr/>
        </p:nvSpPr>
        <p:spPr>
          <a:xfrm>
            <a:off x="647700" y="1657350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CAPÍTULO I · PRESENTACIÓN</a:t>
            </a:r>
            <a:endParaRPr sz="12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Óvalo 4"/>
          <p:cNvSpPr>
            <a:spLocks noGrp="1"/>
          </p:cNvSpPr>
          <p:nvPr/>
        </p:nvSpPr>
        <p:spPr>
          <a:xfrm>
            <a:off x="647700" y="2133600"/>
            <a:ext cx="361950" cy="3619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1181100" y="2114550"/>
            <a:ext cx="5334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1.1</a:t>
            </a:r>
            <a:endParaRPr sz="120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1752600" y="2105025"/>
            <a:ext cx="3286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Startup Profile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ector recto 7"/>
          <p:cNvSpPr>
            <a:spLocks noGrp="1"/>
          </p:cNvSpPr>
          <p:nvPr/>
        </p:nvSpPr>
        <p:spPr>
          <a:xfrm>
            <a:off x="1181100" y="2628900"/>
            <a:ext cx="384810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9" name="Óvalo 8"/>
          <p:cNvSpPr>
            <a:spLocks noGrp="1"/>
          </p:cNvSpPr>
          <p:nvPr/>
        </p:nvSpPr>
        <p:spPr>
          <a:xfrm>
            <a:off x="647700" y="3067050"/>
            <a:ext cx="361950" cy="3619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1181100" y="3048000"/>
            <a:ext cx="5334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1.2</a:t>
            </a:r>
            <a:endParaRPr sz="120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1752600" y="3038475"/>
            <a:ext cx="3286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Solution Profile y Lean UX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ector recto 11"/>
          <p:cNvSpPr>
            <a:spLocks noGrp="1"/>
          </p:cNvSpPr>
          <p:nvPr/>
        </p:nvSpPr>
        <p:spPr>
          <a:xfrm>
            <a:off x="1181100" y="3562350"/>
            <a:ext cx="384810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13" name="Óvalo 12"/>
          <p:cNvSpPr>
            <a:spLocks noGrp="1"/>
          </p:cNvSpPr>
          <p:nvPr/>
        </p:nvSpPr>
        <p:spPr>
          <a:xfrm>
            <a:off x="647700" y="4000500"/>
            <a:ext cx="361950" cy="3619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1181100" y="3981450"/>
            <a:ext cx="5334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1.3</a:t>
            </a:r>
            <a:endParaRPr sz="120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1752600" y="3971925"/>
            <a:ext cx="3286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Segmentos objetivo</a:t>
            </a:r>
            <a:endParaRPr sz="142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Conector recto 15"/>
          <p:cNvSpPr>
            <a:spLocks noGrp="1"/>
          </p:cNvSpPr>
          <p:nvPr/>
        </p:nvSpPr>
        <p:spPr>
          <a:xfrm>
            <a:off x="1181100" y="4495800"/>
            <a:ext cx="384810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17" name="Rectángulo con esquinas redondeadas 16"/>
          <p:cNvSpPr>
            <a:spLocks noGrp="1"/>
          </p:cNvSpPr>
          <p:nvPr/>
        </p:nvSpPr>
        <p:spPr>
          <a:xfrm>
            <a:off x="628650" y="5143500"/>
            <a:ext cx="4572000" cy="723900"/>
          </a:xfrm>
          <a:prstGeom prst="roundRect">
            <a:avLst>
              <a:gd name="adj" fmla="val 18421"/>
            </a:avLst>
          </a:prstGeom>
          <a:solidFill>
            <a:srgbClr val="24452E"/>
          </a:solidFill>
          <a:ln w="0">
            <a:noFill/>
            <a:prstDash val="solid"/>
          </a:ln>
        </p:spPr>
      </p:sp>
      <p:sp>
        <p:nvSpPr>
          <p:cNvPr id="18" name="Rectángulos 17"/>
          <p:cNvSpPr>
            <a:spLocks noGrp="1"/>
          </p:cNvSpPr>
          <p:nvPr/>
        </p:nvSpPr>
        <p:spPr>
          <a:xfrm>
            <a:off x="914400" y="532447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Problema, propuesta y usuarios definidos para la evolución móvil.</a:t>
            </a:r>
            <a:endParaRPr sz="12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ángulos 18"/>
          <p:cNvSpPr>
            <a:spLocks noGrp="1"/>
          </p:cNvSpPr>
          <p:nvPr/>
        </p:nvSpPr>
        <p:spPr>
          <a:xfrm>
            <a:off x="6191250" y="16573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CAPÍTULO II · REQUISITOS Y DISEÑO</a:t>
            </a:r>
            <a:endParaRPr sz="120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Óvalo 19"/>
          <p:cNvSpPr>
            <a:spLocks noGrp="1"/>
          </p:cNvSpPr>
          <p:nvPr/>
        </p:nvSpPr>
        <p:spPr>
          <a:xfrm>
            <a:off x="6191250" y="2076450"/>
            <a:ext cx="304800" cy="30480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ángulos 20"/>
          <p:cNvSpPr>
            <a:spLocks noGrp="1"/>
          </p:cNvSpPr>
          <p:nvPr/>
        </p:nvSpPr>
        <p:spPr>
          <a:xfrm>
            <a:off x="6667500" y="2066925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2.1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ángulos 21"/>
          <p:cNvSpPr>
            <a:spLocks noGrp="1"/>
          </p:cNvSpPr>
          <p:nvPr/>
        </p:nvSpPr>
        <p:spPr>
          <a:xfrm>
            <a:off x="7239000" y="20574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Competidores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Conector recto 22"/>
          <p:cNvSpPr>
            <a:spLocks noGrp="1"/>
          </p:cNvSpPr>
          <p:nvPr/>
        </p:nvSpPr>
        <p:spPr>
          <a:xfrm>
            <a:off x="6667500" y="2476500"/>
            <a:ext cx="4476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24" name="Óvalo 23"/>
          <p:cNvSpPr>
            <a:spLocks noGrp="1"/>
          </p:cNvSpPr>
          <p:nvPr/>
        </p:nvSpPr>
        <p:spPr>
          <a:xfrm>
            <a:off x="6191250" y="2676525"/>
            <a:ext cx="304800" cy="30480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ángulos 24"/>
          <p:cNvSpPr>
            <a:spLocks noGrp="1"/>
          </p:cNvSpPr>
          <p:nvPr/>
        </p:nvSpPr>
        <p:spPr>
          <a:xfrm>
            <a:off x="6667500" y="26670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2.2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ángulos 25"/>
          <p:cNvSpPr>
            <a:spLocks noGrp="1"/>
          </p:cNvSpPr>
          <p:nvPr/>
        </p:nvSpPr>
        <p:spPr>
          <a:xfrm>
            <a:off x="7239000" y="2657475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Entrevistas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Conector recto 26"/>
          <p:cNvSpPr>
            <a:spLocks noGrp="1"/>
          </p:cNvSpPr>
          <p:nvPr/>
        </p:nvSpPr>
        <p:spPr>
          <a:xfrm>
            <a:off x="6667500" y="3076575"/>
            <a:ext cx="4476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28" name="Óvalo 27"/>
          <p:cNvSpPr>
            <a:spLocks noGrp="1"/>
          </p:cNvSpPr>
          <p:nvPr/>
        </p:nvSpPr>
        <p:spPr>
          <a:xfrm>
            <a:off x="6191250" y="3276600"/>
            <a:ext cx="304800" cy="30480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ángulos 28"/>
          <p:cNvSpPr>
            <a:spLocks noGrp="1"/>
          </p:cNvSpPr>
          <p:nvPr/>
        </p:nvSpPr>
        <p:spPr>
          <a:xfrm>
            <a:off x="6667500" y="3267075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2.3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ángulos 29"/>
          <p:cNvSpPr>
            <a:spLocks noGrp="1"/>
          </p:cNvSpPr>
          <p:nvPr/>
        </p:nvSpPr>
        <p:spPr>
          <a:xfrm>
            <a:off x="7239000" y="32575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Needfinding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Conector recto 30"/>
          <p:cNvSpPr>
            <a:spLocks noGrp="1"/>
          </p:cNvSpPr>
          <p:nvPr/>
        </p:nvSpPr>
        <p:spPr>
          <a:xfrm>
            <a:off x="6667500" y="3676650"/>
            <a:ext cx="4476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32" name="Óvalo 31"/>
          <p:cNvSpPr>
            <a:spLocks noGrp="1"/>
          </p:cNvSpPr>
          <p:nvPr/>
        </p:nvSpPr>
        <p:spPr>
          <a:xfrm>
            <a:off x="6191250" y="3876675"/>
            <a:ext cx="304800" cy="304800"/>
          </a:xfrm>
          <a:prstGeom prst="ellipse">
            <a:avLst/>
          </a:prstGeom>
          <a:solidFill>
            <a:srgbClr val="92593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ectángulos 32"/>
          <p:cNvSpPr>
            <a:spLocks noGrp="1"/>
          </p:cNvSpPr>
          <p:nvPr/>
        </p:nvSpPr>
        <p:spPr>
          <a:xfrm>
            <a:off x="6667500" y="38671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2.4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Rectángulos 33"/>
          <p:cNvSpPr>
            <a:spLocks noGrp="1"/>
          </p:cNvSpPr>
          <p:nvPr/>
        </p:nvSpPr>
        <p:spPr>
          <a:xfrm>
            <a:off x="7239000" y="3857625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Requirements Specification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Conector recto 34"/>
          <p:cNvSpPr>
            <a:spLocks noGrp="1"/>
          </p:cNvSpPr>
          <p:nvPr/>
        </p:nvSpPr>
        <p:spPr>
          <a:xfrm>
            <a:off x="6667500" y="4276725"/>
            <a:ext cx="4476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36" name="Óvalo 35"/>
          <p:cNvSpPr>
            <a:spLocks noGrp="1"/>
          </p:cNvSpPr>
          <p:nvPr/>
        </p:nvSpPr>
        <p:spPr>
          <a:xfrm>
            <a:off x="6191250" y="4476750"/>
            <a:ext cx="304800" cy="304800"/>
          </a:xfrm>
          <a:prstGeom prst="ellipse">
            <a:avLst/>
          </a:prstGeom>
          <a:solidFill>
            <a:srgbClr val="92593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Rectángulos 36"/>
          <p:cNvSpPr>
            <a:spLocks noGrp="1"/>
          </p:cNvSpPr>
          <p:nvPr/>
        </p:nvSpPr>
        <p:spPr>
          <a:xfrm>
            <a:off x="6667500" y="4467225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2.5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ectángulos 37"/>
          <p:cNvSpPr>
            <a:spLocks noGrp="1"/>
          </p:cNvSpPr>
          <p:nvPr/>
        </p:nvSpPr>
        <p:spPr>
          <a:xfrm>
            <a:off x="7239000" y="44577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Strategic-Level DDD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Conector recto 38"/>
          <p:cNvSpPr>
            <a:spLocks noGrp="1"/>
          </p:cNvSpPr>
          <p:nvPr/>
        </p:nvSpPr>
        <p:spPr>
          <a:xfrm>
            <a:off x="6667500" y="4876800"/>
            <a:ext cx="4476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40" name="Óvalo 39"/>
          <p:cNvSpPr>
            <a:spLocks noGrp="1"/>
          </p:cNvSpPr>
          <p:nvPr/>
        </p:nvSpPr>
        <p:spPr>
          <a:xfrm>
            <a:off x="6191250" y="5076825"/>
            <a:ext cx="304800" cy="304800"/>
          </a:xfrm>
          <a:prstGeom prst="ellipse">
            <a:avLst/>
          </a:prstGeom>
          <a:solidFill>
            <a:srgbClr val="92593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2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ectángulos 40"/>
          <p:cNvSpPr>
            <a:spLocks noGrp="1"/>
          </p:cNvSpPr>
          <p:nvPr/>
        </p:nvSpPr>
        <p:spPr>
          <a:xfrm>
            <a:off x="6667500" y="50673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2.6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ectángulos 41"/>
          <p:cNvSpPr>
            <a:spLocks noGrp="1"/>
          </p:cNvSpPr>
          <p:nvPr/>
        </p:nvSpPr>
        <p:spPr>
          <a:xfrm>
            <a:off x="7239000" y="5057775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Tactical-Level DDD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Conector recto 42"/>
          <p:cNvSpPr>
            <a:spLocks noGrp="1"/>
          </p:cNvSpPr>
          <p:nvPr/>
        </p:nvSpPr>
        <p:spPr>
          <a:xfrm>
            <a:off x="6667500" y="5476875"/>
            <a:ext cx="4476750" cy="0"/>
          </a:xfrm>
          <a:prstGeom prst="line">
            <a:avLst/>
          </a:prstGeom>
          <a:noFill/>
          <a:ln w="19050">
            <a:solidFill>
              <a:srgbClr val="E5D4BD"/>
            </a:solidFill>
            <a:prstDash val="solid"/>
          </a:ln>
        </p:spPr>
      </p:sp>
      <p:sp>
        <p:nvSpPr>
          <p:cNvPr id="44" name="Rectángulos 43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Rectángulos 44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ángulos 31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alcance ya está ordenado en tres entregas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 backlog conecta investigación, funcionalidades móviles y los hitos del curso.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sp>
        <p:nvSpPr>
          <p:cNvPr id="4" name="Rectángulos 3"/>
          <p:cNvSpPr>
            <a:spLocks noGrp="1"/>
          </p:cNvSpPr>
          <p:nvPr/>
        </p:nvSpPr>
        <p:spPr>
          <a:xfrm>
            <a:off x="609600" y="1752600"/>
            <a:ext cx="17145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8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8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59</a:t>
            </a:r>
            <a:endParaRPr sz="48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ángulos 4"/>
          <p:cNvSpPr>
            <a:spLocks noGrp="1"/>
          </p:cNvSpPr>
          <p:nvPr/>
        </p:nvSpPr>
        <p:spPr>
          <a:xfrm>
            <a:off x="628650" y="2571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elementos priorizados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628650" y="3028950"/>
            <a:ext cx="21907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43 User Stories</a:t>
            </a:r>
            <a:endParaRPr sz="135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3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 Technical Stories</a:t>
            </a:r>
            <a:endParaRPr sz="135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3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Spike Story</a:t>
            </a:r>
            <a:endParaRPr sz="135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 con esquinas redondeadas 6"/>
          <p:cNvSpPr>
            <a:spLocks noGrp="1"/>
          </p:cNvSpPr>
          <p:nvPr/>
        </p:nvSpPr>
        <p:spPr>
          <a:xfrm>
            <a:off x="3238500" y="1762125"/>
            <a:ext cx="2400300" cy="3095625"/>
          </a:xfrm>
          <a:prstGeom prst="roundRect">
            <a:avLst>
              <a:gd name="adj" fmla="val 8730"/>
            </a:avLst>
          </a:prstGeom>
          <a:solidFill>
            <a:srgbClr val="F5F0E6"/>
          </a:solidFill>
          <a:ln w="0">
            <a:noFill/>
            <a:prstDash val="solid"/>
          </a:ln>
        </p:spPr>
      </p:sp>
      <p:sp>
        <p:nvSpPr>
          <p:cNvPr id="8" name="Rectángulos 7"/>
          <p:cNvSpPr>
            <a:spLocks noGrp="1"/>
          </p:cNvSpPr>
          <p:nvPr/>
        </p:nvSpPr>
        <p:spPr>
          <a:xfrm>
            <a:off x="3467100" y="2038350"/>
            <a:ext cx="19431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SPRINT 1</a:t>
            </a:r>
            <a:endParaRPr sz="1125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ángulos 8"/>
          <p:cNvSpPr>
            <a:spLocks noGrp="1"/>
          </p:cNvSpPr>
          <p:nvPr/>
        </p:nvSpPr>
        <p:spPr>
          <a:xfrm>
            <a:off x="3467100" y="2362200"/>
            <a:ext cx="19431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endParaRPr sz="390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3467100" y="295275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ítems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Conector recto 10"/>
          <p:cNvSpPr>
            <a:spLocks noGrp="1"/>
          </p:cNvSpPr>
          <p:nvPr/>
        </p:nvSpPr>
        <p:spPr>
          <a:xfrm>
            <a:off x="3467100" y="3333750"/>
            <a:ext cx="685800" cy="0"/>
          </a:xfrm>
          <a:prstGeom prst="line">
            <a:avLst/>
          </a:prstGeom>
          <a:noFill/>
          <a:ln w="47625">
            <a:solidFill>
              <a:srgbClr val="4F7F4A"/>
            </a:solidFill>
            <a:prstDash val="solid"/>
          </a:ln>
        </p:spPr>
      </p:sp>
      <p:sp>
        <p:nvSpPr>
          <p:cNvPr id="12" name="Rectángulos 11"/>
          <p:cNvSpPr>
            <a:spLocks noGrp="1"/>
          </p:cNvSpPr>
          <p:nvPr/>
        </p:nvSpPr>
        <p:spPr>
          <a:xfrm>
            <a:off x="3467100" y="3600450"/>
            <a:ext cx="19431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 móvil, acceso y gestión de animales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ángulos 12"/>
          <p:cNvSpPr>
            <a:spLocks noGrp="1"/>
          </p:cNvSpPr>
          <p:nvPr/>
        </p:nvSpPr>
        <p:spPr>
          <a:xfrm>
            <a:off x="3467100" y="4495800"/>
            <a:ext cx="19431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Semana 7</a:t>
            </a:r>
            <a:endParaRPr sz="105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ángulo con esquinas redondeadas 13"/>
          <p:cNvSpPr>
            <a:spLocks noGrp="1"/>
          </p:cNvSpPr>
          <p:nvPr/>
        </p:nvSpPr>
        <p:spPr>
          <a:xfrm>
            <a:off x="6019800" y="1762125"/>
            <a:ext cx="2400300" cy="3095625"/>
          </a:xfrm>
          <a:prstGeom prst="roundRect">
            <a:avLst>
              <a:gd name="adj" fmla="val 8730"/>
            </a:avLst>
          </a:prstGeom>
          <a:solidFill>
            <a:srgbClr val="F5F0E6"/>
          </a:solidFill>
          <a:ln w="0">
            <a:noFill/>
            <a:prstDash val="solid"/>
          </a:ln>
        </p:spPr>
      </p:sp>
      <p:sp>
        <p:nvSpPr>
          <p:cNvPr id="15" name="Rectángulos 14"/>
          <p:cNvSpPr>
            <a:spLocks noGrp="1"/>
          </p:cNvSpPr>
          <p:nvPr/>
        </p:nvSpPr>
        <p:spPr>
          <a:xfrm>
            <a:off x="6248400" y="2038350"/>
            <a:ext cx="19431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SPRINT 2</a:t>
            </a:r>
            <a:endParaRPr sz="1125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s 15"/>
          <p:cNvSpPr>
            <a:spLocks noGrp="1"/>
          </p:cNvSpPr>
          <p:nvPr/>
        </p:nvSpPr>
        <p:spPr>
          <a:xfrm>
            <a:off x="6248400" y="2362200"/>
            <a:ext cx="19431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endParaRPr sz="390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ángulos 16"/>
          <p:cNvSpPr>
            <a:spLocks noGrp="1"/>
          </p:cNvSpPr>
          <p:nvPr/>
        </p:nvSpPr>
        <p:spPr>
          <a:xfrm>
            <a:off x="6248400" y="295275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ítems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Conector recto 17"/>
          <p:cNvSpPr>
            <a:spLocks noGrp="1"/>
          </p:cNvSpPr>
          <p:nvPr/>
        </p:nvSpPr>
        <p:spPr>
          <a:xfrm>
            <a:off x="6248400" y="3333750"/>
            <a:ext cx="68580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sp>
        <p:nvSpPr>
          <p:cNvPr id="19" name="Rectángulos 18"/>
          <p:cNvSpPr>
            <a:spLocks noGrp="1"/>
          </p:cNvSpPr>
          <p:nvPr/>
        </p:nvSpPr>
        <p:spPr>
          <a:xfrm>
            <a:off x="6248400" y="3600450"/>
            <a:ext cx="19431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Sanidad, colaboración, offline y QR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ángulos 19"/>
          <p:cNvSpPr>
            <a:spLocks noGrp="1"/>
          </p:cNvSpPr>
          <p:nvPr/>
        </p:nvSpPr>
        <p:spPr>
          <a:xfrm>
            <a:off x="6248400" y="4495800"/>
            <a:ext cx="19431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Semana 12</a:t>
            </a:r>
            <a:endParaRPr sz="105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ángulo con esquinas redondeadas 20"/>
          <p:cNvSpPr>
            <a:spLocks noGrp="1"/>
          </p:cNvSpPr>
          <p:nvPr/>
        </p:nvSpPr>
        <p:spPr>
          <a:xfrm>
            <a:off x="8801100" y="1762125"/>
            <a:ext cx="2400300" cy="3095625"/>
          </a:xfrm>
          <a:prstGeom prst="roundRect">
            <a:avLst>
              <a:gd name="adj" fmla="val 8730"/>
            </a:avLst>
          </a:prstGeom>
          <a:solidFill>
            <a:srgbClr val="F5F0E6"/>
          </a:solidFill>
          <a:ln w="0">
            <a:noFill/>
            <a:prstDash val="solid"/>
          </a:ln>
        </p:spPr>
      </p:sp>
      <p:sp>
        <p:nvSpPr>
          <p:cNvPr id="22" name="Rectángulos 21"/>
          <p:cNvSpPr>
            <a:spLocks noGrp="1"/>
          </p:cNvSpPr>
          <p:nvPr/>
        </p:nvSpPr>
        <p:spPr>
          <a:xfrm>
            <a:off x="9029700" y="2038350"/>
            <a:ext cx="19431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SPRINT 3</a:t>
            </a:r>
            <a:endParaRPr sz="1125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ángulos 22"/>
          <p:cNvSpPr>
            <a:spLocks noGrp="1"/>
          </p:cNvSpPr>
          <p:nvPr/>
        </p:nvSpPr>
        <p:spPr>
          <a:xfrm>
            <a:off x="9029700" y="2362200"/>
            <a:ext cx="19431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sz="390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ángulos 23"/>
          <p:cNvSpPr>
            <a:spLocks noGrp="1"/>
          </p:cNvSpPr>
          <p:nvPr/>
        </p:nvSpPr>
        <p:spPr>
          <a:xfrm>
            <a:off x="9029700" y="295275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ítems</a:t>
            </a:r>
            <a:endParaRPr sz="120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Conector recto 24"/>
          <p:cNvSpPr>
            <a:spLocks noGrp="1"/>
          </p:cNvSpPr>
          <p:nvPr/>
        </p:nvSpPr>
        <p:spPr>
          <a:xfrm>
            <a:off x="9029700" y="3333750"/>
            <a:ext cx="685800" cy="0"/>
          </a:xfrm>
          <a:prstGeom prst="line">
            <a:avLst/>
          </a:prstGeom>
          <a:noFill/>
          <a:ln w="47625">
            <a:solidFill>
              <a:srgbClr val="925930"/>
            </a:solidFill>
            <a:prstDash val="solid"/>
          </a:ln>
        </p:spPr>
      </p:sp>
      <p:sp>
        <p:nvSpPr>
          <p:cNvPr id="26" name="Rectángulos 25"/>
          <p:cNvSpPr>
            <a:spLocks noGrp="1"/>
          </p:cNvSpPr>
          <p:nvPr/>
        </p:nvSpPr>
        <p:spPr>
          <a:xfrm>
            <a:off x="9029700" y="3600450"/>
            <a:ext cx="19431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Reportes, pagos, accesibilidad y distribución</a:t>
            </a:r>
            <a:endParaRPr sz="13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ángulos 26"/>
          <p:cNvSpPr>
            <a:spLocks noGrp="1"/>
          </p:cNvSpPr>
          <p:nvPr/>
        </p:nvSpPr>
        <p:spPr>
          <a:xfrm>
            <a:off x="9029700" y="4495800"/>
            <a:ext cx="19431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Semana 15</a:t>
            </a:r>
            <a:endParaRPr sz="1050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ángulo con esquinas redondeadas 27"/>
          <p:cNvSpPr>
            <a:spLocks noGrp="1"/>
          </p:cNvSpPr>
          <p:nvPr/>
        </p:nvSpPr>
        <p:spPr>
          <a:xfrm>
            <a:off x="3238500" y="5181600"/>
            <a:ext cx="7962900" cy="609600"/>
          </a:xfrm>
          <a:prstGeom prst="roundRect">
            <a:avLst>
              <a:gd name="adj" fmla="val 21875"/>
            </a:avLst>
          </a:prstGeom>
          <a:solidFill>
            <a:srgbClr val="24452E"/>
          </a:solidFill>
          <a:ln w="0">
            <a:noFill/>
            <a:prstDash val="solid"/>
          </a:ln>
        </p:spPr>
      </p:sp>
      <p:sp>
        <p:nvSpPr>
          <p:cNvPr id="29" name="Rectángulos 28"/>
          <p:cNvSpPr>
            <a:spLocks noGrp="1"/>
          </p:cNvSpPr>
          <p:nvPr/>
        </p:nvSpPr>
        <p:spPr>
          <a:xfrm>
            <a:off x="3543300" y="5362575"/>
            <a:ext cx="73533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Prioridad del primer incremento: pantallas core, backend reutilizable y gestión de animales.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ángulos 29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ángulos 30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ángulos 24"/>
          <p:cNvSpPr>
            <a:spLocks noGrp="1"/>
          </p:cNvSpPr>
          <p:nvPr/>
        </p:nvSpPr>
        <p:spPr>
          <a:xfrm>
            <a:off x="609600" y="4000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Ruta hacia la aplicación móvil</a:t>
            </a:r>
            <a:endParaRPr sz="2550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ángulos 1"/>
          <p:cNvSpPr>
            <a:spLocks noGrp="1"/>
          </p:cNvSpPr>
          <p:nvPr/>
        </p:nvSpPr>
        <p:spPr>
          <a:xfrm>
            <a:off x="628650" y="962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Cada hito reduce una incertidumbre y acerca AniTec a una validación real en campo.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Conector recto 2"/>
          <p:cNvSpPr>
            <a:spLocks noGrp="1"/>
          </p:cNvSpPr>
          <p:nvPr/>
        </p:nvSpPr>
        <p:spPr>
          <a:xfrm>
            <a:off x="628650" y="1381125"/>
            <a:ext cx="781050" cy="0"/>
          </a:xfrm>
          <a:prstGeom prst="line">
            <a:avLst/>
          </a:prstGeom>
          <a:noFill/>
          <a:ln w="47625">
            <a:solidFill>
              <a:srgbClr val="E7A33E"/>
            </a:solidFill>
            <a:prstDash val="solid"/>
          </a:ln>
        </p:spPr>
      </p:sp>
      <p:sp>
        <p:nvSpPr>
          <p:cNvPr id="4" name="Conector recto 3"/>
          <p:cNvSpPr>
            <a:spLocks noGrp="1"/>
          </p:cNvSpPr>
          <p:nvPr/>
        </p:nvSpPr>
        <p:spPr>
          <a:xfrm>
            <a:off x="1238250" y="3200400"/>
            <a:ext cx="9620250" cy="0"/>
          </a:xfrm>
          <a:prstGeom prst="line">
            <a:avLst/>
          </a:prstGeom>
          <a:noFill/>
          <a:ln w="76200">
            <a:solidFill>
              <a:srgbClr val="E5D4BD"/>
            </a:solidFill>
            <a:prstDash val="solid"/>
          </a:ln>
        </p:spPr>
      </p:sp>
      <p:sp>
        <p:nvSpPr>
          <p:cNvPr id="5" name="Óvalo 4"/>
          <p:cNvSpPr>
            <a:spLocks noGrp="1"/>
          </p:cNvSpPr>
          <p:nvPr/>
        </p:nvSpPr>
        <p:spPr>
          <a:xfrm>
            <a:off x="1619250" y="2819400"/>
            <a:ext cx="781050" cy="781050"/>
          </a:xfrm>
          <a:prstGeom prst="ellipse">
            <a:avLst/>
          </a:prstGeom>
          <a:solidFill>
            <a:srgbClr val="4F7F4A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6" name="Rectángulos 5"/>
          <p:cNvSpPr>
            <a:spLocks noGrp="1"/>
          </p:cNvSpPr>
          <p:nvPr/>
        </p:nvSpPr>
        <p:spPr>
          <a:xfrm>
            <a:off x="1095375" y="2095500"/>
            <a:ext cx="1828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AHORA</a:t>
            </a:r>
            <a:endParaRPr sz="105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ángulos 6"/>
          <p:cNvSpPr>
            <a:spLocks noGrp="1"/>
          </p:cNvSpPr>
          <p:nvPr/>
        </p:nvSpPr>
        <p:spPr>
          <a:xfrm>
            <a:off x="1095375" y="2400300"/>
            <a:ext cx="1828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Diseño y preparación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ángulos 7"/>
          <p:cNvSpPr>
            <a:spLocks noGrp="1"/>
          </p:cNvSpPr>
          <p:nvPr/>
        </p:nvSpPr>
        <p:spPr>
          <a:xfrm>
            <a:off x="952500" y="3848100"/>
            <a:ext cx="21145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Informe hasta capítulo II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Backlog y arquitectura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Óvalo 8"/>
          <p:cNvSpPr>
            <a:spLocks noGrp="1"/>
          </p:cNvSpPr>
          <p:nvPr/>
        </p:nvSpPr>
        <p:spPr>
          <a:xfrm>
            <a:off x="4286250" y="2819400"/>
            <a:ext cx="781050" cy="781050"/>
          </a:xfrm>
          <a:prstGeom prst="ellipse">
            <a:avLst/>
          </a:prstGeom>
          <a:solidFill>
            <a:srgbClr val="79B267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10" name="Rectángulos 9"/>
          <p:cNvSpPr>
            <a:spLocks noGrp="1"/>
          </p:cNvSpPr>
          <p:nvPr/>
        </p:nvSpPr>
        <p:spPr>
          <a:xfrm>
            <a:off x="3762375" y="2095500"/>
            <a:ext cx="1828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79B26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79B26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SEMANA 7</a:t>
            </a:r>
            <a:endParaRPr sz="1050" b="1">
              <a:solidFill>
                <a:srgbClr val="79B26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ángulos 10"/>
          <p:cNvSpPr>
            <a:spLocks noGrp="1"/>
          </p:cNvSpPr>
          <p:nvPr/>
        </p:nvSpPr>
        <p:spPr>
          <a:xfrm>
            <a:off x="3762375" y="2400300"/>
            <a:ext cx="1828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Sprint 1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ángulos 11"/>
          <p:cNvSpPr>
            <a:spLocks noGrp="1"/>
          </p:cNvSpPr>
          <p:nvPr/>
        </p:nvSpPr>
        <p:spPr>
          <a:xfrm>
            <a:off x="3619500" y="3848100"/>
            <a:ext cx="21145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Pantallas core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al 70 %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Óvalo 12"/>
          <p:cNvSpPr>
            <a:spLocks noGrp="1"/>
          </p:cNvSpPr>
          <p:nvPr/>
        </p:nvSpPr>
        <p:spPr>
          <a:xfrm>
            <a:off x="6953250" y="2819400"/>
            <a:ext cx="781050" cy="781050"/>
          </a:xfrm>
          <a:prstGeom prst="ellipse">
            <a:avLst/>
          </a:prstGeom>
          <a:solidFill>
            <a:srgbClr val="E7A33E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14" name="Rectángulos 13"/>
          <p:cNvSpPr>
            <a:spLocks noGrp="1"/>
          </p:cNvSpPr>
          <p:nvPr/>
        </p:nvSpPr>
        <p:spPr>
          <a:xfrm>
            <a:off x="6429375" y="2095500"/>
            <a:ext cx="1828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E7A33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SEMANA 12</a:t>
            </a:r>
            <a:endParaRPr sz="1050" b="1">
              <a:solidFill>
                <a:srgbClr val="E7A33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ángulos 14"/>
          <p:cNvSpPr>
            <a:spLocks noGrp="1"/>
          </p:cNvSpPr>
          <p:nvPr/>
        </p:nvSpPr>
        <p:spPr>
          <a:xfrm>
            <a:off x="6429375" y="2400300"/>
            <a:ext cx="1828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Sprint 2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ángulos 15"/>
          <p:cNvSpPr>
            <a:spLocks noGrp="1"/>
          </p:cNvSpPr>
          <p:nvPr/>
        </p:nvSpPr>
        <p:spPr>
          <a:xfrm>
            <a:off x="6286500" y="3848100"/>
            <a:ext cx="21145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Funciones principales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al 100 %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Óvalo 16"/>
          <p:cNvSpPr>
            <a:spLocks noGrp="1"/>
          </p:cNvSpPr>
          <p:nvPr/>
        </p:nvSpPr>
        <p:spPr>
          <a:xfrm>
            <a:off x="9620250" y="2819400"/>
            <a:ext cx="781050" cy="781050"/>
          </a:xfrm>
          <a:prstGeom prst="ellipse">
            <a:avLst/>
          </a:prstGeom>
          <a:solidFill>
            <a:srgbClr val="925930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18" name="Rectángulos 17"/>
          <p:cNvSpPr>
            <a:spLocks noGrp="1"/>
          </p:cNvSpPr>
          <p:nvPr/>
        </p:nvSpPr>
        <p:spPr>
          <a:xfrm>
            <a:off x="9096375" y="2095500"/>
            <a:ext cx="1828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2593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SEMANA 15</a:t>
            </a:r>
            <a:endParaRPr sz="1050" b="1">
              <a:solidFill>
                <a:srgbClr val="92593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ángulos 18"/>
          <p:cNvSpPr>
            <a:spLocks noGrp="1"/>
          </p:cNvSpPr>
          <p:nvPr/>
        </p:nvSpPr>
        <p:spPr>
          <a:xfrm>
            <a:off x="9096375" y="2400300"/>
            <a:ext cx="1828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8251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Sprint 3</a:t>
            </a:r>
            <a:endParaRPr sz="1575" b="1">
              <a:solidFill>
                <a:srgbClr val="18251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ángulos 19"/>
          <p:cNvSpPr>
            <a:spLocks noGrp="1"/>
          </p:cNvSpPr>
          <p:nvPr/>
        </p:nvSpPr>
        <p:spPr>
          <a:xfrm>
            <a:off x="8953500" y="3848100"/>
            <a:ext cx="21145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Aplicación completa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Distribución y validación</a:t>
            </a:r>
            <a:endParaRPr sz="127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ángulo con esquinas redondeadas 20"/>
          <p:cNvSpPr>
            <a:spLocks noGrp="1"/>
          </p:cNvSpPr>
          <p:nvPr/>
        </p:nvSpPr>
        <p:spPr>
          <a:xfrm>
            <a:off x="1238250" y="5191125"/>
            <a:ext cx="962025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Rectángulos 21"/>
          <p:cNvSpPr>
            <a:spLocks noGrp="1"/>
          </p:cNvSpPr>
          <p:nvPr/>
        </p:nvSpPr>
        <p:spPr>
          <a:xfrm>
            <a:off x="1695450" y="5391150"/>
            <a:ext cx="8705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2445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Resultado esperado: una aplicación instalable, validada y preparada para operar con conectividad intermitente.</a:t>
            </a:r>
            <a:endParaRPr sz="1425" b="1">
              <a:solidFill>
                <a:srgbClr val="2445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ángulos 22"/>
          <p:cNvSpPr>
            <a:spLocks noGrp="1"/>
          </p:cNvSpPr>
          <p:nvPr/>
        </p:nvSpPr>
        <p:spPr>
          <a:xfrm>
            <a:off x="609600" y="65341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68726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AniTec · Avance del proyecto</a:t>
            </a:r>
            <a:endParaRPr sz="825" b="0">
              <a:solidFill>
                <a:srgbClr val="68726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ángulos 23"/>
          <p:cNvSpPr>
            <a:spLocks noGrp="1"/>
          </p:cNvSpPr>
          <p:nvPr/>
        </p:nvSpPr>
        <p:spPr>
          <a:xfrm>
            <a:off x="11258550" y="64960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4F7F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900" b="1">
              <a:solidFill>
                <a:srgbClr val="4F7F4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5577</Words>
  <Application>WPS Presentation</Application>
  <PresentationFormat>Converted Presentation</PresentationFormat>
  <Paragraphs>436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melga</cp:lastModifiedBy>
  <cp:revision>1</cp:revision>
  <dcterms:created xsi:type="dcterms:W3CDTF">2026-09-16T06:48:58Z</dcterms:created>
  <dcterms:modified xsi:type="dcterms:W3CDTF">2026-09-16T06:48:58Z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3082-12.1.0.28485</vt:lpwstr>
  </property>
  <property fmtid="{D5CDD505-2E9C-101B-9397-08002B2CF9AE}" pid="3" name="ICV">
    <vt:lpwstr>373D9BA1DF2A41F2AD6FE368EEC1D3EC_12</vt:lpwstr>
  </property>
</Properties>
</file>