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bin" ContentType="image/webp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4a2cb0117d4b5c" /><Relationship Type="http://schemas.openxmlformats.org/officeDocument/2006/relationships/extended-properties" Target="/docProps/app.xml" Id="Rb9281156528a430f" /><Relationship Type="http://schemas.openxmlformats.org/officeDocument/2006/relationships/officeDocument" Target="/ppt/presentation.xml" Id="R1d9047b8069b4b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4cff511c82447e7"/>
  </p:sldMasterIdLst>
  <p:notesMasterIdLst>
    <p:notesMasterId xmlns:r="http://schemas.openxmlformats.org/officeDocument/2006/relationships" r:id="Rd94dfc608d344bec"/>
  </p:notesMasterIdLst>
  <p:sldIdLst>
    <p:sldId xmlns:r="http://schemas.openxmlformats.org/officeDocument/2006/relationships" id="256" r:id="R397e637d71304fcf"/>
    <p:sldId xmlns:r="http://schemas.openxmlformats.org/officeDocument/2006/relationships" id="257" r:id="Ra209b3fc5abf472c"/>
    <p:sldId xmlns:r="http://schemas.openxmlformats.org/officeDocument/2006/relationships" id="258" r:id="R64d0674b29df4e4e"/>
    <p:sldId xmlns:r="http://schemas.openxmlformats.org/officeDocument/2006/relationships" id="259" r:id="R3fd7f9cb73864579"/>
    <p:sldId xmlns:r="http://schemas.openxmlformats.org/officeDocument/2006/relationships" id="260" r:id="R15d579b57a594a5d"/>
    <p:sldId xmlns:r="http://schemas.openxmlformats.org/officeDocument/2006/relationships" id="261" r:id="R42b33f9339574165"/>
    <p:sldId xmlns:r="http://schemas.openxmlformats.org/officeDocument/2006/relationships" id="262" r:id="Rf86f616a61484964"/>
    <p:sldId xmlns:r="http://schemas.openxmlformats.org/officeDocument/2006/relationships" id="263" r:id="R7d3f5e1a371d4eb4"/>
    <p:sldId xmlns:r="http://schemas.openxmlformats.org/officeDocument/2006/relationships" id="264" r:id="R8c4e39fb86814fdf"/>
    <p:sldId xmlns:r="http://schemas.openxmlformats.org/officeDocument/2006/relationships" id="265" r:id="R544d294038454333"/>
    <p:sldId xmlns:r="http://schemas.openxmlformats.org/officeDocument/2006/relationships" id="266" r:id="R7e5ac0bb95bd4953"/>
    <p:sldId xmlns:r="http://schemas.openxmlformats.org/officeDocument/2006/relationships" id="267" r:id="R17576ea37fce435e"/>
    <p:sldId xmlns:r="http://schemas.openxmlformats.org/officeDocument/2006/relationships" id="268" r:id="Rb1491e1296c94849"/>
    <p:sldId xmlns:r="http://schemas.openxmlformats.org/officeDocument/2006/relationships" id="269" r:id="R442d3ebb50244d2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93893ec64043fe" /><Relationship Type="http://schemas.openxmlformats.org/officeDocument/2006/relationships/slideMaster" Target="/ppt/slideMasters/slideMaster1.xml" Id="Rd4cff511c82447e7" /><Relationship Type="http://schemas.openxmlformats.org/officeDocument/2006/relationships/notesMaster" Target="/ppt/notesMasters/notesMaster1.xml" Id="Rd94dfc608d344bec" /><Relationship Type="http://schemas.openxmlformats.org/officeDocument/2006/relationships/presProps" Target="/ppt/presProps.xml" Id="R8426083ed9634a57" /><Relationship Type="http://schemas.openxmlformats.org/officeDocument/2006/relationships/tableStyles" Target="/ppt/tableStyles.xml" Id="R686748ae8fc74d24" /><Relationship Type="http://schemas.openxmlformats.org/officeDocument/2006/relationships/slide" Target="/ppt/slides/slide1.xml" Id="R397e637d71304fcf" /><Relationship Type="http://schemas.openxmlformats.org/officeDocument/2006/relationships/slide" Target="/ppt/slides/slide2.xml" Id="Ra209b3fc5abf472c" /><Relationship Type="http://schemas.openxmlformats.org/officeDocument/2006/relationships/slide" Target="/ppt/slides/slide3.xml" Id="R64d0674b29df4e4e" /><Relationship Type="http://schemas.openxmlformats.org/officeDocument/2006/relationships/slide" Target="/ppt/slides/slide4.xml" Id="R3fd7f9cb73864579" /><Relationship Type="http://schemas.openxmlformats.org/officeDocument/2006/relationships/slide" Target="/ppt/slides/slide5.xml" Id="R15d579b57a594a5d" /><Relationship Type="http://schemas.openxmlformats.org/officeDocument/2006/relationships/slide" Target="/ppt/slides/slide6.xml" Id="R42b33f9339574165" /><Relationship Type="http://schemas.openxmlformats.org/officeDocument/2006/relationships/slide" Target="/ppt/slides/slide7.xml" Id="Rf86f616a61484964" /><Relationship Type="http://schemas.openxmlformats.org/officeDocument/2006/relationships/slide" Target="/ppt/slides/slide8.xml" Id="R7d3f5e1a371d4eb4" /><Relationship Type="http://schemas.openxmlformats.org/officeDocument/2006/relationships/slide" Target="/ppt/slides/slide9.xml" Id="R8c4e39fb86814fdf" /><Relationship Type="http://schemas.openxmlformats.org/officeDocument/2006/relationships/slide" Target="/ppt/slides/slide10.xml" Id="R544d294038454333" /><Relationship Type="http://schemas.openxmlformats.org/officeDocument/2006/relationships/slide" Target="/ppt/slides/slide11.xml" Id="R7e5ac0bb95bd4953" /><Relationship Type="http://schemas.openxmlformats.org/officeDocument/2006/relationships/slide" Target="/ppt/slides/slide12.xml" Id="R17576ea37fce435e" /><Relationship Type="http://schemas.openxmlformats.org/officeDocument/2006/relationships/slide" Target="/ppt/slides/slide13.xml" Id="Rb1491e1296c94849" /><Relationship Type="http://schemas.openxmlformats.org/officeDocument/2006/relationships/slide" Target="/ppt/slides/slide14.xml" Id="R442d3ebb50244d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ca5c8d60b04a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94bc33683b4df6" /><Relationship Type="http://schemas.openxmlformats.org/officeDocument/2006/relationships/notesMaster" Target="/ppt/notesMasters/notesMaster1.xml" Id="Rb407730546154d5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5b1fd07bcf74def" /><Relationship Type="http://schemas.openxmlformats.org/officeDocument/2006/relationships/notesMaster" Target="/ppt/notesMasters/notesMaster1.xml" Id="Re53a6df423a842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4c7a401c4494214" /><Relationship Type="http://schemas.openxmlformats.org/officeDocument/2006/relationships/notesMaster" Target="/ppt/notesMasters/notesMaster1.xml" Id="Rf5d8feff0fd94c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9e7f39c4be409a" /><Relationship Type="http://schemas.openxmlformats.org/officeDocument/2006/relationships/notesMaster" Target="/ppt/notesMasters/notesMaster1.xml" Id="R7ebfd7b9a33240a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be74de624e44a70" /><Relationship Type="http://schemas.openxmlformats.org/officeDocument/2006/relationships/notesMaster" Target="/ppt/notesMasters/notesMaster1.xml" Id="Rf6497405fd7d4c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da277a37ec4b34" /><Relationship Type="http://schemas.openxmlformats.org/officeDocument/2006/relationships/notesMaster" Target="/ppt/notesMasters/notesMaster1.xml" Id="Rad0ca0a31ef742b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6af4bb4f154ec3" /><Relationship Type="http://schemas.openxmlformats.org/officeDocument/2006/relationships/notesMaster" Target="/ppt/notesMasters/notesMaster1.xml" Id="R5e57c955be2d42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c3e476459a74550" /><Relationship Type="http://schemas.openxmlformats.org/officeDocument/2006/relationships/notesMaster" Target="/ppt/notesMasters/notesMaster1.xml" Id="R360f4141d96d4cb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daf246268f34491" /><Relationship Type="http://schemas.openxmlformats.org/officeDocument/2006/relationships/notesMaster" Target="/ppt/notesMasters/notesMaster1.xml" Id="Rdbb95f11896c455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5f0fbacb24b434d" /><Relationship Type="http://schemas.openxmlformats.org/officeDocument/2006/relationships/notesMaster" Target="/ppt/notesMasters/notesMaster1.xml" Id="R622f35a5355646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3a795958084581" /><Relationship Type="http://schemas.openxmlformats.org/officeDocument/2006/relationships/notesMaster" Target="/ppt/notesMasters/notesMaster1.xml" Id="Rcf5869a0345c422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14e975aad74e4b" /><Relationship Type="http://schemas.openxmlformats.org/officeDocument/2006/relationships/notesMaster" Target="/ppt/notesMasters/notesMaster1.xml" Id="R428edd5aa1d24f3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a37898a534f4214" /><Relationship Type="http://schemas.openxmlformats.org/officeDocument/2006/relationships/notesMaster" Target="/ppt/notesMasters/notesMaster1.xml" Id="R74ae921ace704a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3467c9538343be" /><Relationship Type="http://schemas.openxmlformats.org/officeDocument/2006/relationships/notesMaster" Target="/ppt/notesMasters/notesMaster1.xml" Id="R3cdc98499929482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Informe, capítulos I y II. Imagen: anitec-landing-page/assets/images/home/hero-section.png</a:t>
            </a:r>
          </a:p>
          <a:p xmlns:a="http://schemas.openxmlformats.org/drawingml/2006/main">
            <a:r>
              <a:t>Abrir con la idea central: llevar la gestión desde el escritorio hacia el lugar donde ocurre el trabajo.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1.2.1 Antecedentes y problemática; entrevistas 2.2.3.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1.3 Segmentos objetivo. Imágenes del landing page de AniTec.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2.2.3 Análisis de entrevistas. Muestra: 3 ganaderos y 2 veterinarios.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2.3.3 User Journey Mapping. Imagen: User-Ganadero-Journey.png.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1.1.1, 1.2.1 y matriz de coherencia de 2.4.1.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Repositorios anitec-landing-page, anitec-frontend y anitec-backend. Captura: screen-2.png.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1.2.2 Lean UX Process. Imagen: lean_ux_canvas.png.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2.1 Competidores. Competidores: Livestock Manager, AgriWebb e iLivestock.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2.4.3 Product Backlog. Distribución: Sprint 1 = 21, Sprint 2 = 21, Sprint 3 = 17.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Informe 2.5 y 2.6. Bounded contexts: IAM, Profiles, Livestock, Sanitary, Veterinary Collaboration, Activities, Financial, Subscriptions, Analytics.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Síntesis del informe y repositorios actuales. El desarrollo móvil se presenta como siguiente etapa, no como funcionalidad ya terminada.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Statement del curso: TB1 semana 7, AV2 semana 12 y TB2 semana 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 interna: Objetivo consolidado a partir de los capítulos I y II. Imagen: anitec-frontend/public/dashboardVeterinario.png.</a:t>
            </a:r>
          </a:p>
          <a:p xmlns:a="http://schemas.openxmlformats.org/drawingml/2006/main">
            <a:r>
              <a:t>Cerrar conectando la evolución móvil con la continuidad sanitaria y la gestión diaria.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c58eb9fb7c43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4d73946b304866" /><Relationship Type="http://schemas.openxmlformats.org/officeDocument/2006/relationships/slideLayout" Target="/ppt/slideLayouts/slideLayout1.xml" Id="Rb65c0ab16cd742f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65c0ab16cd742f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e053d6cf454e7a" /><Relationship Type="http://schemas.openxmlformats.org/officeDocument/2006/relationships/image" Target="/ppt/media/image.png" Id="R79597ea230e6466e" /><Relationship Type="http://schemas.openxmlformats.org/officeDocument/2006/relationships/image" Target="/ppt/media/image2.png" Id="R00ed2e90472245cc" /><Relationship Type="http://schemas.openxmlformats.org/officeDocument/2006/relationships/notesSlide" Target="/ppt/notesSlides/notesSlide1.xml" Id="Rbaf3fddbb1324b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7553fe2a1f4238" /><Relationship Type="http://schemas.openxmlformats.org/officeDocument/2006/relationships/image" Target="/ppt/media/image.bin" Id="R70f351e392c94eb1" /><Relationship Type="http://schemas.openxmlformats.org/officeDocument/2006/relationships/notesSlide" Target="/ppt/notesSlides/notesSlide2.xml" Id="Rb2877cef1eef45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25862506a4e08" /><Relationship Type="http://schemas.openxmlformats.org/officeDocument/2006/relationships/image" Target="/ppt/media/image3.png" Id="R35d638b2957e41d6" /><Relationship Type="http://schemas.openxmlformats.org/officeDocument/2006/relationships/image" Target="/ppt/media/image4.png" Id="R27d0e371d58b4ae1" /><Relationship Type="http://schemas.openxmlformats.org/officeDocument/2006/relationships/notesSlide" Target="/ppt/notesSlides/notesSlide3.xml" Id="Raa92e64e6b2a4a2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95d2d9f77472c" /><Relationship Type="http://schemas.openxmlformats.org/officeDocument/2006/relationships/image" Target="/ppt/media/image.jpeg" Id="Rde3928254a224bae" /><Relationship Type="http://schemas.openxmlformats.org/officeDocument/2006/relationships/image" Target="/ppt/media/image5.png" Id="R07e885fb093a4c82" /><Relationship Type="http://schemas.openxmlformats.org/officeDocument/2006/relationships/notesSlide" Target="/ppt/notesSlides/notesSlide4.xml" Id="Ra974bd19e4cc45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02aa52599940c7" /><Relationship Type="http://schemas.openxmlformats.org/officeDocument/2006/relationships/image" Target="/ppt/media/image6.png" Id="R6f88adf90b164ff3" /><Relationship Type="http://schemas.openxmlformats.org/officeDocument/2006/relationships/notesSlide" Target="/ppt/notesSlides/notesSlide5.xml" Id="R4a091f732d8244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5d9981204a4a15" /><Relationship Type="http://schemas.openxmlformats.org/officeDocument/2006/relationships/notesSlide" Target="/ppt/notesSlides/notesSlide6.xml" Id="R551b30a2c97e45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cd70eede84d9b" /><Relationship Type="http://schemas.openxmlformats.org/officeDocument/2006/relationships/image" Target="/ppt/media/image7.png" Id="R2ae693dbd2404566" /><Relationship Type="http://schemas.openxmlformats.org/officeDocument/2006/relationships/notesSlide" Target="/ppt/notesSlides/notesSlide7.xml" Id="R508e882e8f6140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86507853784532" /><Relationship Type="http://schemas.openxmlformats.org/officeDocument/2006/relationships/image" Target="/ppt/media/image8.png" Id="Raf953da0ff43412f" /><Relationship Type="http://schemas.openxmlformats.org/officeDocument/2006/relationships/notesSlide" Target="/ppt/notesSlides/notesSlide8.xml" Id="R265c9d51808c4f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b58ff97e34574" /><Relationship Type="http://schemas.openxmlformats.org/officeDocument/2006/relationships/image" Target="/ppt/media/image2.bin" Id="R42fb0a7372d84887" /><Relationship Type="http://schemas.openxmlformats.org/officeDocument/2006/relationships/image" Target="/ppt/media/image9.png" Id="R5a08f426e27240cd" /><Relationship Type="http://schemas.openxmlformats.org/officeDocument/2006/relationships/image" Target="/ppt/media/image10.png" Id="Rb04388f077e546b4" /><Relationship Type="http://schemas.openxmlformats.org/officeDocument/2006/relationships/image" Target="/ppt/media/image11.png" Id="R4e0a9e883d194491" /><Relationship Type="http://schemas.openxmlformats.org/officeDocument/2006/relationships/notesSlide" Target="/ppt/notesSlides/notesSlide9.xml" Id="R9b53c3f182574a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50239c61745bc" /><Relationship Type="http://schemas.openxmlformats.org/officeDocument/2006/relationships/notesSlide" Target="/ppt/notesSlides/notesSlide10.xml" Id="Rd24616e42e3f402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d630d940f54c3b" /><Relationship Type="http://schemas.openxmlformats.org/officeDocument/2006/relationships/notesSlide" Target="/ppt/notesSlides/notesSlide11.xml" Id="R7b3c975ca7c441f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0bc9437d1c4f6e" /><Relationship Type="http://schemas.openxmlformats.org/officeDocument/2006/relationships/notesSlide" Target="/ppt/notesSlides/notesSlide12.xml" Id="Re28cfc564ee3436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2ccaba53f44a3" /><Relationship Type="http://schemas.openxmlformats.org/officeDocument/2006/relationships/notesSlide" Target="/ppt/notesSlides/notesSlide13.xml" Id="R57526fd9cd3f470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b774b38f54285" /><Relationship Type="http://schemas.openxmlformats.org/officeDocument/2006/relationships/image" Target="/ppt/media/image2.jpeg" Id="R83921ed081084e83" /><Relationship Type="http://schemas.openxmlformats.org/officeDocument/2006/relationships/notesSlide" Target="/ppt/notesSlides/notesSlide14.xml" Id="R3dc8b9f7b6e044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445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97ea230e6466e"/>
          <a:srcRect xmlns:a="http://schemas.openxmlformats.org/drawingml/2006/main" l="22500" t="0" r="2250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0"/>
            <a:ext cx="6286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04312-5089-4D5A-888E-0D8050EC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0"/>
            <a:ext cx="85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5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ed2e90472245cc"/>
          <a:stretch xmlns:a="http://schemas.openxmlformats.org/drawingml/2006/main"/>
        </p:blipFill>
        <p:spPr>
          <a:xfrm xmlns:a="http://schemas.openxmlformats.org/drawingml/2006/main">
            <a:off x="609600" y="533400"/>
            <a:ext cx="1047750" cy="1047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070A18-16C1-499B-AE2E-22CB86C6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AniTec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6B9C0E-1FEC-41DC-BA3C-7602B0028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4762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Gestión ganadera que acompaña el trabajo de campo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51FE74-9FA5-4EB5-821F-87D72611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1028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E7A33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32690-7544-4985-B520-DF92F9D8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Avance del proyecto</a:t>
            </a:r>
          </a:p>
          <a:p xmlns:a="http://schemas.openxmlformats.org/drawingml/2006/main">
            <a:pPr algn="l">
              <a:defRPr sz="150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Capítulos I y II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AC06D7-12C6-4DEA-91C9-0CAE29BD4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5D4B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5D4BD"/>
                </a:solidFill>
                <a:latin typeface="Arial"/>
                <a:ea typeface="Arial"/>
                <a:cs typeface="Arial"/>
              </a:rPr>
              <a:t>Aplicaciones para Dispositivos Móviles · 2026</a:t>
            </a:r>
          </a:p>
        </p:txBody>
      </p:sp>
    </p:spTree>
    <p:extLst>
      <p:ext uri="{BB962C8B-B14F-4D97-AF65-F5344CB8AC3E}">
        <p14:creationId xmlns:p14="http://schemas.microsoft.com/office/powerpoint/2010/main" val="7319629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F31FA3-8A90-4AC4-8834-AD9DB528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La información existe, pero está dispersa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B8DDD5-ABD4-4C72-8148-8C4275AC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5810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El problema aparece cuando el registro debe hacerse en el campo y la conexión no acompaña.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2D09B1-2CF3-4B33-8C96-9B7E625DF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f351e392c94eb1"/>
          <a:srcRect xmlns:a="http://schemas.openxmlformats.org/drawingml/2006/main" l="5357" t="0" r="535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819150"/>
            <a:ext cx="4762500" cy="5334000"/>
          </a:xfrm>
          <a:prstGeom xmlns:a="http://schemas.openxmlformats.org/drawingml/2006/main" prst="roundRect">
            <a:avLst>
              <a:gd name="adj" fmla="val 4400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79264E-1024-418D-A940-B55DF2892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573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5E39F-90A3-40A6-B2E9-79CD8FF6C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38325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Cuadernos y mensajes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962CAB-235C-4F07-AF76-90EFCE12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098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Historiales repartidos entre papel, hojas de cálculo y WhatsApp.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284D6E-CB04-484B-95EE-38A0C10C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765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80A87B-3126-447C-A0F0-BB35C3E9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57525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Decisiones con datos incompletos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E1D08A-D591-4B38-B9E1-4906A624D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4290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Ganaderos y veterinarios pierden tiempo buscando antecedentes.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739D05-2FB3-4599-B1CB-9441D144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9577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2593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C85481-EA8E-4C0A-B15B-72EF8C422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276725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Conectividad intermitente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01D660-D727-4963-A41C-BA5BC325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482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Depender de Internet impide registrar el evento cuando ocurre.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6D4145-B83C-446F-86EC-35680D9A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7500EC-58C4-4CEE-BBB3-D6784B76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781303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8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9D7D4-0992-4B3C-BD87-B70419D5A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Dos usuarios, una misma historia del animal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357C78-7756-4B9A-A9C2-A5979774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prioriza a quienes registran y utilizan la información en cada atención.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5B254F-81DD-419A-8C08-20E91E946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d638b2957e41d6"/>
          <a:srcRect xmlns:a="http://schemas.openxmlformats.org/drawingml/2006/main" l="0" t="5682" r="0" b="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66875"/>
            <a:ext cx="4191000" cy="371475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d0e371d58b4ae1"/>
          <a:srcRect xmlns:a="http://schemas.openxmlformats.org/drawingml/2006/main" l="0" t="5682" r="0" b="5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91400" y="1666875"/>
            <a:ext cx="4191000" cy="3714750"/>
          </a:xfrm>
          <a:prstGeom xmlns:a="http://schemas.openxmlformats.org/drawingml/2006/main" prst="roundRect">
            <a:avLst>
              <a:gd name="adj" fmla="val 6667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31187-DF7B-41BE-BE6F-4EED3C457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333625"/>
            <a:ext cx="3276600" cy="238125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2445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72F54B-759E-41EA-B89C-37333BC0B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2415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HISTORIAL</a:t>
            </a:r>
          </a:p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COMPARTIDO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DAC454-671E-4CEC-AC23-507690075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667125"/>
            <a:ext cx="247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Permisos claros</a:t>
            </a:r>
          </a:p>
          <a:p xmlns:a="http://schemas.openxmlformats.org/drawingml/2006/main">
            <a:pPr algn="ctr">
              <a:defRPr sz="135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Seguimiento continuo</a:t>
            </a:r>
          </a:p>
          <a:p xmlns:a="http://schemas.openxmlformats.org/drawingml/2006/main">
            <a:pPr algn="ctr">
              <a:defRPr sz="135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Información trazable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0457B7-1C21-439E-ABBE-90641692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Ganadero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D7F0D5-6DBB-45E3-B436-3B7818E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848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Registra animales, actividades y alertas sanitarias.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F6AF68-01AE-48F1-B6A6-22327CEF7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5626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2593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925930"/>
                </a:solidFill>
                <a:latin typeface="Arial"/>
                <a:ea typeface="Arial"/>
                <a:cs typeface="Arial"/>
              </a:rPr>
              <a:t>Veterinario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7B4183-2779-41AF-95A4-826466B99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905500"/>
            <a:ext cx="3848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Consulta antecedentes autorizados y documenta la atención.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CEA829-697C-4276-ACA6-E551CC06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825A13-2225-4A88-B682-3C2BBDB6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3689751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4F52C2-88F7-453A-8CF4-B886ABF7F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La investigación confirmó el costo del desorden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0B6CB7-CD4F-4548-A26F-974B578F4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Cinco entrevistas exploratorias orientan el problema, los flujos y la experiencia móvil.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9693A8-401F-4885-96D6-2E5F0057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928254a224bae"/>
          <a:srcRect xmlns:a="http://schemas.openxmlformats.org/drawingml/2006/main" l="4262" t="0" r="426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714500"/>
            <a:ext cx="2571750" cy="1809750"/>
          </a:xfrm>
          <a:prstGeom xmlns:a="http://schemas.openxmlformats.org/drawingml/2006/main" prst="roundRect">
            <a:avLst>
              <a:gd name="adj" fmla="val 9474"/>
            </a:avLst>
          </a:prstGeom>
        </p:spPr>
      </p:pic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e885fb093a4c82"/>
          <a:srcRect xmlns:a="http://schemas.openxmlformats.org/drawingml/2006/main" l="8635" t="0" r="863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3790950"/>
            <a:ext cx="2571750" cy="1809750"/>
          </a:xfrm>
          <a:prstGeom xmlns:a="http://schemas.openxmlformats.org/drawingml/2006/main" prst="roundRect">
            <a:avLst>
              <a:gd name="adj" fmla="val 947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1ED4C4-3513-4075-BB3C-495E0494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8097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3 de 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738ADB-A5E7-4BF1-924D-90315C0A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38400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A3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9675E-B196-45FB-B7D1-3DD276BB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0985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ganaderos usan registros manuales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3E4E0-CF66-4B67-ABDC-09F33580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8097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3 de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E8FF53-0A51-42EB-93AF-0E1C7749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38400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A33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6D0D9-8B09-4610-990E-248B79B3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0985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usan el celular como canal habitual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9FCA83-E06C-44CD-9667-CBD34951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195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2593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25930"/>
                </a:solidFill>
                <a:latin typeface="Arial"/>
                <a:ea typeface="Arial"/>
                <a:cs typeface="Arial"/>
              </a:rPr>
              <a:t>2 de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D279F5-2CB8-4161-87C1-C2DCBC9C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48150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A3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37C66-BB9F-4CFB-AD67-7ED4BFD0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1960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veterinarios encuentran información dispersa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EA9124-B5B0-4303-A57D-F936FB8B0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6195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2593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25930"/>
                </a:solidFill>
                <a:latin typeface="Arial"/>
                <a:ea typeface="Arial"/>
                <a:cs typeface="Arial"/>
              </a:rPr>
              <a:t>2 de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C88A87-2AD8-4875-BCF0-0D574DB61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248150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7A3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3B8BDD-0B73-4D19-BA3A-0B325299F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419600"/>
            <a:ext cx="3143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necesitan historial clínico previo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CA8A48-2638-4478-8789-C608D524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524500"/>
            <a:ext cx="7810500" cy="590550"/>
          </a:xfrm>
          <a:prstGeom xmlns:a="http://schemas.openxmlformats.org/drawingml/2006/main" prst="roundRect">
            <a:avLst>
              <a:gd name="adj" fmla="val 22581"/>
            </a:avLst>
          </a:prstGeom>
          <a:solidFill xmlns:a="http://schemas.openxmlformats.org/drawingml/2006/main">
            <a:srgbClr val="F5F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F02CC-5345-4F33-AA47-E5CB36DB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5686425"/>
            <a:ext cx="7334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Hallazgo transversal: la herramienta debe ser simple, rápida y útil con conectividad limitada.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EF311B-A934-47C4-9F08-50FE6980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B13F42-25E6-4DAA-9ECA-4651A95E8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106870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825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82397D-61E6-44F8-908D-5137BD040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 momento crítico ocurre después de registrar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40859C-FFED-4D39-AFF7-FEEA4009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885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El recorrido actual se rompe cuando hay que recordar, encontrar o compartir la información.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8adf90b164ff3"/>
          <a:stretch xmlns:a="http://schemas.openxmlformats.org/drawingml/2006/main"/>
        </p:blipFill>
        <p:spPr>
          <a:xfrm xmlns:a="http://schemas.openxmlformats.org/drawingml/2006/main">
            <a:off x="1927173" y="1657350"/>
            <a:ext cx="4794353" cy="4171950"/>
          </a:xfrm>
          <a:prstGeom xmlns:a="http://schemas.openxmlformats.org/drawingml/2006/main" prst="roundRect">
            <a:avLst>
              <a:gd name="adj" fmla="val 4110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159184-89A5-44BC-A820-8F436FA8D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9812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9B26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49B8D0-87A2-46BB-A2C6-ECCB29BB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9526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REGISTRA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AB6148-F7E4-45DE-85EF-19D4629D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21932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Anota nacimientos, vacunas y tratamientos.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9CB57-03F3-4500-93E4-E7B80CCE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9B26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CB344-FC24-494E-8B37-2346A8F1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003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BUSCA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84FBA1-DA00-4A04-9435-12627AC7B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670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Revisa papeles y conversaciones para encontrar fechas.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9F69DC-3B67-455A-9613-09D21DF46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0767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9B26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047E5-B76F-4A63-B87E-6EE05B79F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481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DECIDE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69F570-5033-415D-880D-C9684C2B1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1482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Actúa con dudas si el antecedente no aparece.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97EB62-007F-4E99-A8CE-EB9558BF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51244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A33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D5F45F-539F-4752-A378-99B9C8B9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095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RETRABAJA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9D6815-7243-413F-8961-2ACE93E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3625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Vuelve a registrar o reconstruye información perdida.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F4A597-A3EE-480B-A6F4-56EBC567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E5D4B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E5D4BD"/>
                </a:solidFill>
                <a:latin typeface="Arial"/>
                <a:ea typeface="Arial"/>
                <a:cs typeface="Arial"/>
              </a:rPr>
              <a:t>Fuente: User Journey As-Is del ganadero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50678B-F5BC-4BD3-A795-31AD7D16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FE2D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4282107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7B5069-BFDD-4CE8-8865-4F2EE0A8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AniTec convierte el teléfono en una herramienta de campo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D60D0F-2F0D-4CEB-AB7C-38F0779C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La aplicación móvil extiende una base web existente y concentra las tareas que necesitan resolverse en el momento.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22FDF6-89D0-466E-ACC3-85C555520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A9FCE7-CF3A-4523-AF61-E753498C0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1B479-32F0-4BC0-A185-14EC5213D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428875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5D4B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D5181D-5EC1-4831-9785-07A3E0BA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03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Identificar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D68554-3713-4EEF-AA7C-7A39F349C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7185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QR o búsqueda manual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0A4FCE-19D3-4C68-931A-5729CC7B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5054BE-47E1-4F15-8FB5-73A11D6F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28875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5D4B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204CC1-B6CF-4582-BB88-C75F2434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003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Registrar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D34151-92DC-4E55-BD61-4645A625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37185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Animal, atención o actividad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D57238-A657-4558-8ECC-8D15BE734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3575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A33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92786D-1986-4E69-88AC-14F3B380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428875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5D4B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0D5948-F475-4B23-8BAB-37EECBD7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003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Continuar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960F3B-768A-4C39-8DF3-A33A3642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7185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Guardar localmente si no hay red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92C06F-C434-4F89-A0BD-DB0CE30D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F8EB0F-0D46-4593-9C09-6064AFDD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428875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5D4B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9CD519-11DB-49CB-A5F6-BE9579A82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003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Sincronizar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83DFE6-0671-4CC5-BE60-3FB0AE5C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37185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Actualizar el historial sin duplicados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92B66E-423C-4540-9BBD-834B7029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5575" y="20955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45B8F1E-FAB8-4F18-A616-2560C22E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0003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Decidir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F7F75E-C92D-4A79-9A9E-5703C4566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371850"/>
            <a:ext cx="171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Alertas e indicadores claros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EA7734-3B9D-4180-B4C7-F94DD97AB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76750"/>
            <a:ext cx="9715500" cy="1066800"/>
          </a:xfrm>
          <a:prstGeom xmlns:a="http://schemas.openxmlformats.org/drawingml/2006/main" prst="roundRect">
            <a:avLst>
              <a:gd name="adj" fmla="val 19643"/>
            </a:avLst>
          </a:prstGeom>
          <a:solidFill xmlns:a="http://schemas.openxmlformats.org/drawingml/2006/main">
            <a:srgbClr val="2445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C33475-CDC8-42EF-A7E1-502122F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672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Una sola experiencia conecta al ganadero, al veterinario y al historial del animal.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B3C7F4-FA26-4355-AABD-F7426B71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48275"/>
            <a:ext cx="742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Android nativo + experiencia multiplataforma + API propia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A2A73B-C78D-43D7-B901-E881AD10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0AD71D-DDC4-4D6F-A006-089FAE83A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335506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4CF4D1-2CF8-4C3F-9F6D-6978C915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No partimos de cero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AA9B8A-34F5-4FB5-9B5A-5CC95F0D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El trabajo anterior aporta una landing page, una aplicación web funcional y una API que ahora se adaptarán al uso móvil.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03A42A-B56A-44CD-8BA5-8BFEEB90E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e693dbd2404566"/>
          <a:srcRect xmlns:a="http://schemas.openxmlformats.org/drawingml/2006/main" l="0" t="5722" r="0" b="57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76400"/>
            <a:ext cx="7239000" cy="4171950"/>
          </a:xfrm>
          <a:prstGeom xmlns:a="http://schemas.openxmlformats.org/drawingml/2006/main" prst="roundRect">
            <a:avLst>
              <a:gd name="adj" fmla="val 4566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F2FB3F-6C10-4D85-AA43-A120C0BF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097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0B94D-5407-4F40-AC67-8302782B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716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Landing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85C3F7-0ECC-4294-9E8B-430C50E3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336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Comunica la propuesta de valor y los segmentos.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3E15F5-476E-46EB-A365-9AABD30E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09875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6C945D-52BC-4A1B-ACF7-C03EF1358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8610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FB28BD-5B42-427B-BB4A-83A54A5E7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480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Web app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86F678-67C5-454A-A44D-C442A25A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40995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Valida módulos, roles y recorridos principales.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0440CD-1796-4C07-BD08-C0E4B490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86225"/>
            <a:ext cx="295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D8E01B-92B8-4FED-A805-86F5E0CA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624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839B9A-47F0-4391-92E8-BBB36733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243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Backend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B70D4C-7BCE-4413-BC1F-9BB6C8AF2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6863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Centraliza reglas, datos y servicios REST.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47D694-161D-465E-9E40-D1B557DC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43550"/>
            <a:ext cx="30480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FE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491527-6A8A-45E8-8460-02B8D2D8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5629275"/>
            <a:ext cx="266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4452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4452E"/>
                </a:solidFill>
                <a:latin typeface="Arial"/>
                <a:ea typeface="Arial"/>
                <a:cs typeface="Arial"/>
              </a:rPr>
              <a:t>Base comprobable para la</a:t>
            </a:r>
          </a:p>
          <a:p xmlns:a="http://schemas.openxmlformats.org/drawingml/2006/main">
            <a:pPr algn="ctr">
              <a:defRPr sz="1125" b="1">
                <a:solidFill>
                  <a:srgbClr val="24452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4452E"/>
                </a:solidFill>
                <a:latin typeface="Arial"/>
                <a:ea typeface="Arial"/>
                <a:cs typeface="Arial"/>
              </a:rPr>
              <a:t>evolución móvil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5119D0-3D2F-4A07-9C64-DE738A08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A35A56-EB33-44C8-98F6-C083EC937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738386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8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108A41-EEE7-48C2-8BD0-4357C1BFD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Las decisiones se formulan como hipótesis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C6462F-05F2-4006-8199-3F00E5A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El Capítulo I traduce el problema en supuestos que deberán comprobarse con uso real.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AA16CF-CFBE-485F-8178-0970F7E6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953da0ff43412f"/>
          <a:stretch xmlns:a="http://schemas.openxmlformats.org/drawingml/2006/main"/>
        </p:blipFill>
        <p:spPr>
          <a:xfrm xmlns:a="http://schemas.openxmlformats.org/drawingml/2006/main">
            <a:off x="609600" y="2042682"/>
            <a:ext cx="4762500" cy="3153636"/>
          </a:xfrm>
          <a:prstGeom xmlns:a="http://schemas.openxmlformats.org/drawingml/2006/main" prst="roundRect">
            <a:avLst>
              <a:gd name="adj" fmla="val 4615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C32CB2-CE85-4D06-9923-29DB2E95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7145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ADOPCIÓN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A60675-AD5B-4DCE-852F-4BB49A84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00025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Registrar y consultar desde el teléfono aumenta el uso continuo.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8A696C-7D85-454B-8EB8-7816F033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6860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2593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25930"/>
                </a:solidFill>
                <a:latin typeface="Arial"/>
                <a:ea typeface="Arial"/>
                <a:cs typeface="Arial"/>
              </a:rPr>
              <a:t>SANIDAD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1EA785-6E49-4894-83C4-82F6D5FC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97180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Las alertas reducen actividades olvidadas.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494BC8-1F42-4F8F-8B62-9EA27BA0C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576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CONTINUIDAD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17D791-3970-40D6-9897-CD5611D1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94335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El almacenamiento local evita perder el progreso.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065F49-DAEF-4DEE-8631-64461071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6291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2593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25930"/>
                </a:solidFill>
                <a:latin typeface="Arial"/>
                <a:ea typeface="Arial"/>
                <a:cs typeface="Arial"/>
              </a:rPr>
              <a:t>COLABORACIÓN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7508FC-DD0B-4D55-9918-D8CE0C1A4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914900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El acceso autorizado mejora el seguimiento veterinario.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ECDA3B-2C67-4BAC-B8E1-A0B482DD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619750"/>
            <a:ext cx="514350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5F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6E12C2-DED2-4B0A-9F7F-561BB8C5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43575"/>
            <a:ext cx="472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687269"/>
                </a:solidFill>
                <a:latin typeface="Arial"/>
                <a:ea typeface="Arial"/>
                <a:cs typeface="Arial"/>
              </a:rPr>
              <a:t>Cada hipótesis define qué medir antes de asumir que la solución funciona.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E92D3A-5665-49C8-ABC0-F290EB4C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A48EBF-0F04-486D-ABB0-CA1B03DAF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809853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D51372-2D4E-44AA-B0FE-05A3B0336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El diferencial debe demostrarse en el contexto peruano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E69DE-D4EB-4288-87A4-9D54ACE8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El trabajo offline ya existe en el mercado. AniTec compite en simplicidad, adaptación local y colaboración autorizada.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40C88-2A1A-4F01-AD99-84B632E9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B9091A-6989-425D-8C17-1C60D670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24050"/>
            <a:ext cx="2190750" cy="2524125"/>
          </a:xfrm>
          <a:prstGeom xmlns:a="http://schemas.openxmlformats.org/drawingml/2006/main" prst="roundRect">
            <a:avLst>
              <a:gd name="adj" fmla="val 95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D4B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fb0a7372d84887"/>
          <a:stretch xmlns:a="http://schemas.openxmlformats.org/drawingml/2006/main"/>
        </p:blipFill>
        <p:spPr>
          <a:xfrm xmlns:a="http://schemas.openxmlformats.org/drawingml/2006/main">
            <a:off x="1333500" y="2209800"/>
            <a:ext cx="857250" cy="8572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56970-6128-41DC-8CFA-6C54CADD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Livestock Manager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B8A5B5-FB8A-4836-98CF-DCF57218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90950"/>
            <a:ext cx="1733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Entrada accesible y gestión general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1B0892-B92C-4A31-A125-373F9711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924050"/>
            <a:ext cx="2190750" cy="2524125"/>
          </a:xfrm>
          <a:prstGeom xmlns:a="http://schemas.openxmlformats.org/drawingml/2006/main" prst="roundRect">
            <a:avLst>
              <a:gd name="adj" fmla="val 95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D4B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8f426e27240cd"/>
          <a:stretch xmlns:a="http://schemas.openxmlformats.org/drawingml/2006/main"/>
        </p:blipFill>
        <p:spPr>
          <a:xfrm xmlns:a="http://schemas.openxmlformats.org/drawingml/2006/main">
            <a:off x="3429000" y="2465784"/>
            <a:ext cx="1809750" cy="34528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89C4A5-FC46-4852-956B-74FE5CBDF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337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AgriWebb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7F29E-9D1C-4DBB-9135-31AF14830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790950"/>
            <a:ext cx="1733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Operación amplia y trabajo offline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EFC09B-9674-4C77-9300-0E00C016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24050"/>
            <a:ext cx="2190750" cy="2524125"/>
          </a:xfrm>
          <a:prstGeom xmlns:a="http://schemas.openxmlformats.org/drawingml/2006/main" prst="roundRect">
            <a:avLst>
              <a:gd name="adj" fmla="val 95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D4B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4388f077e546b4"/>
          <a:stretch xmlns:a="http://schemas.openxmlformats.org/drawingml/2006/main"/>
        </p:blipFill>
        <p:spPr>
          <a:xfrm xmlns:a="http://schemas.openxmlformats.org/drawingml/2006/main">
            <a:off x="6191250" y="2457450"/>
            <a:ext cx="1428750" cy="3619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F3E4C2-E305-4B2E-BAFA-CE591705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33375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iLivestock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AF556F-75F3-43CA-B049-A227C1E0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90950"/>
            <a:ext cx="17335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Trazabilidad y herramientas de campo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32991D-B312-4B4C-9976-0634549B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09750"/>
            <a:ext cx="2857500" cy="3429000"/>
          </a:xfrm>
          <a:prstGeom xmlns:a="http://schemas.openxmlformats.org/drawingml/2006/main" prst="roundRect">
            <a:avLst>
              <a:gd name="adj" fmla="val 8667"/>
            </a:avLst>
          </a:prstGeom>
          <a:solidFill xmlns:a="http://schemas.openxmlformats.org/drawingml/2006/main">
            <a:srgbClr val="2445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0a9e883d194491"/>
          <a:stretch xmlns:a="http://schemas.openxmlformats.org/drawingml/2006/main"/>
        </p:blipFill>
        <p:spPr>
          <a:xfrm xmlns:a="http://schemas.openxmlformats.org/drawingml/2006/main">
            <a:off x="9372600" y="2181225"/>
            <a:ext cx="1257300" cy="685800"/>
          </a:xfrm>
          <a:prstGeom xmlns:a="http://schemas.openxmlformats.org/drawingml/2006/main" prst="rect">
            <a:avLst/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B330F5-1DFC-4B72-9A2C-F2AACDBF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623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AniTec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D254A6-C7BF-491F-B189-757323ED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676650"/>
            <a:ext cx="20574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Lenguaje cercano</a:t>
            </a:r>
          </a:p>
          <a:p xmlns:a="http://schemas.openxmlformats.org/drawingml/2006/main">
            <a:pPr algn="ctr">
              <a:defRPr sz="1275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Flujos simples en Android</a:t>
            </a:r>
          </a:p>
          <a:p xmlns:a="http://schemas.openxmlformats.org/drawingml/2006/main">
            <a:pPr algn="ctr">
              <a:defRPr sz="1275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Permisos entre ganadero y veterinario</a:t>
            </a:r>
          </a:p>
          <a:p xmlns:a="http://schemas.openxmlformats.org/drawingml/2006/main">
            <a:pPr algn="ctr">
              <a:defRPr sz="1275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Uso con conexión intermitente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1FB65-E252-4A74-BAD4-C6DF39FBB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01015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Propuesta por validar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4D4300-7D79-4DF0-9C10-01DE32CB0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B23D11-7FFF-44C4-889F-6F1F1C421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4337323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BFF307-2FAF-4E6A-9799-D05CDBEA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El alcance ya está ordenado en tres entregas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A07F8-D459-414D-863F-005608A98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El backlog conecta investigación, funcionalidades móviles y los hitos del curso.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239B28-04A2-4343-81D5-2E37FC4AC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5B4709-B3D8-477A-9D2E-2695C4F9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714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3D030C-24D3-4BC8-94CC-2403EE964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71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elementos priorizados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CB084-FC78-47AE-9DD6-E48E11ED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43 User Stories</a:t>
            </a:r>
          </a:p>
          <a:p xmlns:a="http://schemas.openxmlformats.org/drawingml/2006/main">
            <a:pPr algn="l">
              <a:defRPr sz="135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15 Technical Stories</a:t>
            </a:r>
          </a:p>
          <a:p xmlns:a="http://schemas.openxmlformats.org/drawingml/2006/main">
            <a:pPr algn="l">
              <a:defRPr sz="135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1 Spike Story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0ECDFF-97BC-4B5D-87AA-61F1F977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62125"/>
            <a:ext cx="2400300" cy="3095625"/>
          </a:xfrm>
          <a:prstGeom xmlns:a="http://schemas.openxmlformats.org/drawingml/2006/main" prst="roundRect">
            <a:avLst>
              <a:gd name="adj" fmla="val 8730"/>
            </a:avLst>
          </a:prstGeom>
          <a:solidFill xmlns:a="http://schemas.openxmlformats.org/drawingml/2006/main">
            <a:srgbClr val="F5F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F28B07-947F-4559-B5FC-B9E30C29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03835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SPRINT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B7C54C-95D5-4268-952D-549A0EB28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62200"/>
            <a:ext cx="19431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98C19-4582-4C1B-8277-D4856F8D8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527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ítems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CC8AC-5D9D-4224-99A1-2270B439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3337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4F7F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A6D06E-71DF-403F-B9D4-721FEFBB3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600450"/>
            <a:ext cx="1943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Base móvil, acceso y gestión de animales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DD8724-2218-4801-97E7-261DFECD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495800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Semana 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E11E5C-16B9-45E5-A869-6B749DA0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762125"/>
            <a:ext cx="2400300" cy="3095625"/>
          </a:xfrm>
          <a:prstGeom xmlns:a="http://schemas.openxmlformats.org/drawingml/2006/main" prst="roundRect">
            <a:avLst>
              <a:gd name="adj" fmla="val 8730"/>
            </a:avLst>
          </a:prstGeom>
          <a:solidFill xmlns:a="http://schemas.openxmlformats.org/drawingml/2006/main">
            <a:srgbClr val="F5F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288D13-DA6E-435F-858E-8E3577E9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3835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SPRINT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B60858-80D2-47A0-A017-C2D311D4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62200"/>
            <a:ext cx="19431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6AAF4F-AFF3-42A9-BAC7-A8A704A5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527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ítems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54C502-6331-42C8-BE89-3E6A769C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337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BCE56B-722E-4F90-8627-FA288539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943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Sanidad, colaboración, offline y QR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2CDECC-1406-4035-B8CA-D9AC180D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95800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Semana 12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91B3BF-1F6C-4B21-951B-3855996B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62125"/>
            <a:ext cx="2400300" cy="3095625"/>
          </a:xfrm>
          <a:prstGeom xmlns:a="http://schemas.openxmlformats.org/drawingml/2006/main" prst="roundRect">
            <a:avLst>
              <a:gd name="adj" fmla="val 8730"/>
            </a:avLst>
          </a:prstGeom>
          <a:solidFill xmlns:a="http://schemas.openxmlformats.org/drawingml/2006/main">
            <a:srgbClr val="F5F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E96603-6115-4452-93BB-22CE0C05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3835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2593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25930"/>
                </a:solidFill>
                <a:latin typeface="Arial"/>
                <a:ea typeface="Arial"/>
                <a:cs typeface="Arial"/>
              </a:rPr>
              <a:t>SPRINT 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409211-ACA6-42A8-B0D0-487046E1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62200"/>
            <a:ext cx="19431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A678CE-42A1-4382-BDD6-1250A6FF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527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ítems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80ABEB-67A6-4459-9FE3-4AD9F2B02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33750"/>
            <a:ext cx="685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92593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D7BB0D-6855-4681-B4AC-3E4488AE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600450"/>
            <a:ext cx="1943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Reportes, pagos, accesibilidad y distribución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4003A1-4B59-4A8F-BA5D-D3F6847B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495800"/>
            <a:ext cx="1943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Semana 15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A32CA2-EE65-47C8-8824-CAB3EF22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81600"/>
            <a:ext cx="79629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2445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947A57-DEE9-492B-A487-15F552D6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5362575"/>
            <a:ext cx="7353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Prioridad del primer incremento: pantallas core, backend reutilizable y gestión de animales.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45BB7F-0EC9-4BDB-9321-66A4AC7F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4E870D-AF1B-4AA7-954C-BCA8FFA5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02096458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825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0BDFA9-ED95-4396-BC50-4D1DFA31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Nueve capacidades mantienen el producto coherente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1C50D-B9DF-4482-B70E-86D8F21F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096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El diseño estratégico del Capítulo II separa responsabilidades para que la experiencia crezca sin perder claridad.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6CA044-59B3-4784-85D9-37659E22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428875"/>
            <a:ext cx="2381250" cy="2381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F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4452E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24452E"/>
                </a:solidFill>
                <a:latin typeface="Arial"/>
                <a:ea typeface="Arial"/>
                <a:cs typeface="Arial"/>
              </a:rPr>
              <a:t>ANITEC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7372A-07FD-4976-85FA-100552F9E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809750"/>
            <a:ext cx="16192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B4E0AC-1D7D-401B-B800-F95CADF80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0002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Identidad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44F0AD-6FC7-48A3-940F-824306F3F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581150"/>
            <a:ext cx="16192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9B2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8D2B0C-8DC2-4D8B-A0A2-1FE188E6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716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Perfiles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AF84CC-1B1C-4AD6-986D-D801D2C4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81150"/>
            <a:ext cx="16192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3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1A025-8990-4FA2-B2D9-03B720A2B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7716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Ganado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72FE22-6F84-41B6-9325-3F7CC23E8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809750"/>
            <a:ext cx="16192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259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AA7F7E-49C5-4829-9BDC-E37796E1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0002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Sanidad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F3E56-3A55-4D30-9A19-F89CE4C61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714750"/>
            <a:ext cx="16192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94B2AC-EC6F-47B7-883D-970EEB9C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9052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Colaboración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8F66CC-5F4C-4340-A426-424B7B09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953000"/>
            <a:ext cx="16192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9B26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7FC475-AC29-4049-A5FD-2484B06C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435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Actividades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5F4DEB-ECF4-4F8E-820E-E67A9EB2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953000"/>
            <a:ext cx="16192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A3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CCC29F-6327-4E5A-91B7-189EC4D5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14350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Finanzas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E85BEF-F6D3-4D6D-BC91-8AF1F51E5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14750"/>
            <a:ext cx="16192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92593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AB9A6B-B8D2-429E-A0BB-EB4CD907C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052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Suscripciones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16D262-C918-4EC7-B469-0B2CC869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38750"/>
            <a:ext cx="1619250" cy="6286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C9C50F-6CAC-4ADD-951E-92A62E67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4292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Analítica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8FE6D9-E503-4781-9406-2218BFA3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848100"/>
            <a:ext cx="3867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4452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4452E"/>
                </a:solidFill>
                <a:latin typeface="Arial"/>
                <a:ea typeface="Arial"/>
                <a:cs typeface="Arial"/>
              </a:rPr>
              <a:t>Diseño listo para traducirse a Android y Flutter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C29503-0DD3-41DE-941B-83658E31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FE2D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4443462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8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F3B507F-7974-4325-BA49-198AA414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Avance actual: una base definida y trazable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FCEE40-F208-46D0-B256-961581322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Los Capítulos I y II ya conectan el problema, la evidencia, el alcance y el diseño de la solución.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08E65E-A501-4785-985E-7DB3D4F61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250547-92DF-4497-94DF-879C5AD2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CAPÍTULO I · PRESENTACIÓN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3653B-8072-425A-A9F2-59617444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5EADC3-E2B0-4236-ABF9-05C0D476F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145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1.1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0EF50-1A63-4D55-818B-F7B01DD60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05025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Startup Profile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1DB249-88F2-425E-9EE5-DF489441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28900"/>
            <a:ext cx="384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E259BB-2E76-4718-806E-C2D1A0E5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6705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B2B4B8-CA0C-42E0-8FD1-D787DF6E0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1.2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B618F8-26B9-436C-A009-0EAD78648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38475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Solution Profile y Lean UX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8F6B40-ED80-48B2-BB6F-41128CEC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62350"/>
            <a:ext cx="384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E0DD0E-7749-480B-9646-DA9CD6D28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616705-C36F-49AD-A413-CED0A3C8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98145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1.3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767730-0604-427B-B4A3-0E5E3086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971925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Segmentos objetivo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018AF1-368E-410D-9A24-7EF967E09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95800"/>
            <a:ext cx="384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D074B2-689E-4435-BBAC-72B808C5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4572000" cy="723900"/>
          </a:xfrm>
          <a:prstGeom xmlns:a="http://schemas.openxmlformats.org/drawingml/2006/main" prst="roundRect">
            <a:avLst>
              <a:gd name="adj" fmla="val 18421"/>
            </a:avLst>
          </a:prstGeom>
          <a:solidFill xmlns:a="http://schemas.openxmlformats.org/drawingml/2006/main">
            <a:srgbClr val="2445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1BDF12-39BE-41AD-99A1-535B1BD2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24475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Problema, propuesta y usuarios definidos para la evolución móvil.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3A3B97-3F65-46C9-92B8-03C69016F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57350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2593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25930"/>
                </a:solidFill>
                <a:latin typeface="Arial"/>
                <a:ea typeface="Arial"/>
                <a:cs typeface="Arial"/>
              </a:rPr>
              <a:t>CAPÍTULO II · REQUISITOS Y DISEÑO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032741-86C0-4A4A-B0F9-FE4BCA71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63F95F-1806-4655-AF52-D1230B84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669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2.1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779CD5-7282-4540-AC2F-CC476F1F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574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Competidores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E41627-0B62-47ED-89A3-7B5892D75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E1CCC6-8996-4A59-BCBE-979D7D8E1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765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076B5D-7644-4FBC-A284-508F5E192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2.2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E82085-9DF4-4776-B1EB-4BF1FC3C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57475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Entrevistas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753A70E-8F04-47E5-8A42-74FE235E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76575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0C2E25-1BF2-438F-B456-BB5298B6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27660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C079D1-FAE1-4BBB-B4E6-8FA796760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26707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2.3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0DA204-196A-4163-9CF3-AD2A3877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5755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Needfinding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C82EE6-A765-42E1-B9AB-5F30BF3F5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76650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3EC707-9171-4EBA-BD34-C1A523E60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7667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2593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2337CF-4F9D-45AF-A5F4-E9C91B8E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6715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2.4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314E02-2C61-447F-A15E-A911BC55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857625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Requirements Specification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D6CCA4-1004-45FF-8160-5B66A5FFD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76725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D145E6-63C8-4F95-ACBE-C2393435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767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2593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EA91A7-A445-40FC-B458-0A916E343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672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2.5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07E99A-B88C-428C-A644-AEFCAC4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57700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Strategic-Level DDD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36469C2-86BE-4F0E-BEC4-2A221E29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876800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A4949C5-617C-4FFE-8D6E-9532F231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768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2593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29649C-D0DB-49BD-8374-293B64A5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67300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2.6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2430485-1BB7-446E-B370-D88400C8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057775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Tactical-Level DDD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24ED827-5656-40EA-B309-150CC48A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76875"/>
            <a:ext cx="447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5D4BD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F209964-987C-4100-9CB2-D865DB6D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0451813-9699-48EF-BF2C-948219DD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5157715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0E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D5A19A-2F02-4F21-AA36-84A2FEBD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Ruta hacia la aplicación móvil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46C24D-C9A5-4328-885C-D19F2947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62025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Cada hito reduce una incertidumbre y acerca AniTec a una validación real en campo.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63E00-201B-44F6-92C0-93AF4369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81125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E7A33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BAB3A9-CD9A-4C4C-B0F4-D179D2DA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00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E5D4B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53538-39E8-48D5-944A-E7F97C48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81940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F7F4A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26E595-F331-4A2F-8268-E704C97B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0955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AHORA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920A59-7E96-4D2B-BD39-BE2C8933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4003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Diseño y preparación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DE3CC-D8B4-4BB7-913F-4CFEE2D8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48100"/>
            <a:ext cx="2114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Informe hasta capítulo II</a:t>
            </a:r>
          </a:p>
          <a:p xmlns:a="http://schemas.openxmlformats.org/drawingml/2006/main">
            <a:pPr algn="ctr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Backlog y arquitectura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807C1-6ED2-4AE6-AEB8-A6FCD4D7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1940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9B26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C459F2-B98F-4095-9E04-9A4A410A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0955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79B267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9B267"/>
                </a:solidFill>
                <a:latin typeface="Arial"/>
                <a:ea typeface="Arial"/>
                <a:cs typeface="Arial"/>
              </a:rPr>
              <a:t>SEMANA 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DE0556-2519-4A5B-BB08-9D4BD1C9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4003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Sprint 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6A713D-3B4C-4FBB-B1C4-179999A4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848100"/>
            <a:ext cx="2114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Pantallas core</a:t>
            </a:r>
          </a:p>
          <a:p xmlns:a="http://schemas.openxmlformats.org/drawingml/2006/main">
            <a:pPr algn="ctr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Backend al 70 %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2F6CCC-FB74-4881-B55B-158D52F6F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1940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A33E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7DE17-E092-425B-A94C-3CAE78CB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0955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SEMANA 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4710DC-8C8F-4FDA-BB28-913FC37C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003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Sprint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CEAE07-8234-46C6-898A-EBE69979F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48100"/>
            <a:ext cx="2114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Funciones principales</a:t>
            </a:r>
          </a:p>
          <a:p xmlns:a="http://schemas.openxmlformats.org/drawingml/2006/main">
            <a:pPr algn="ctr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Backend al 100 %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7A3D4D-D5B4-4381-8C94-ADC357E4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19400"/>
            <a:ext cx="7810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2593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7E9888-6B0E-4B3B-AC7D-73B9E997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09550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2593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25930"/>
                </a:solidFill>
                <a:latin typeface="Arial"/>
                <a:ea typeface="Arial"/>
                <a:cs typeface="Arial"/>
              </a:rPr>
              <a:t>SEMANA 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37436A-BA83-4D64-99AE-FC427AB73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400300"/>
            <a:ext cx="1828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51E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8251E"/>
                </a:solidFill>
                <a:latin typeface="Arial"/>
                <a:ea typeface="Arial"/>
                <a:cs typeface="Arial"/>
              </a:rPr>
              <a:t>Sprint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68B4207-EAED-44FC-82A3-1AFE8092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48100"/>
            <a:ext cx="2114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Aplicación completa</a:t>
            </a:r>
          </a:p>
          <a:p xmlns:a="http://schemas.openxmlformats.org/drawingml/2006/main">
            <a:pPr algn="ctr">
              <a:defRPr sz="127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Distribución y validación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9D3337-6CF5-4B3A-937D-DB01C5DB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91125"/>
            <a:ext cx="9620250" cy="66675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AA8FBC-A7E2-4B36-9241-4B80ABA64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391150"/>
            <a:ext cx="870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24452E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4452E"/>
                </a:solidFill>
                <a:latin typeface="Arial"/>
                <a:ea typeface="Arial"/>
                <a:cs typeface="Arial"/>
              </a:rPr>
              <a:t>Resultado esperado: una aplicación instalable, validada y preparada para operar con conectividad intermitente.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2E923D-2B36-4101-B116-AADABBB3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87269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687269"/>
                </a:solidFill>
                <a:latin typeface="Arial"/>
                <a:ea typeface="Arial"/>
                <a:cs typeface="Arial"/>
              </a:rPr>
              <a:t>AniTec · Avance del proyecto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96D079-F5AB-4F47-82BE-0B584617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4F7F4A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4F7F4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99537879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2445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921ed081084e83"/>
          <a:srcRect xmlns:a="http://schemas.openxmlformats.org/drawingml/2006/main" l="20799" t="0" r="2079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0" y="0"/>
            <a:ext cx="60007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7189D-FED0-480F-82CB-CC9384B5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0"/>
            <a:ext cx="76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45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50189-E85B-4459-9D4A-4C81AFFCC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7A33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E7A33E"/>
                </a:solidFill>
                <a:latin typeface="Arial"/>
                <a:ea typeface="Arial"/>
                <a:cs typeface="Arial"/>
              </a:rPr>
              <a:t>Nuestro objetivo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7720CD-EA06-43DA-8E13-0C554E61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Que la información del animal esté disponible cuando más importa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BD95DC-06A8-4861-BA62-B9EC5B38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1047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E7A3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CEC497-87F1-4457-AEBD-D11CF8963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452437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Registrar en el campo.</a:t>
            </a:r>
          </a:p>
          <a:p xmlns:a="http://schemas.openxmlformats.org/drawingml/2006/main">
            <a:pPr algn="l">
              <a:defRPr sz="165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Dar continuidad a la atención.</a:t>
            </a:r>
          </a:p>
          <a:p xmlns:a="http://schemas.openxmlformats.org/drawingml/2006/main">
            <a:pPr algn="l">
              <a:defRPr sz="1650" b="0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FE2D0"/>
                </a:solidFill>
                <a:latin typeface="Arial"/>
                <a:ea typeface="Arial"/>
                <a:cs typeface="Arial"/>
              </a:rPr>
              <a:t>Decidir con información ordenada.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7EBB8B-F13C-4093-8D78-1496A0B92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5D4BD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E5D4BD"/>
                </a:solidFill>
                <a:latin typeface="Arial"/>
                <a:ea typeface="Arial"/>
                <a:cs typeface="Arial"/>
              </a:rPr>
              <a:t>AniTec · Titan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FC3B5F-0705-4A47-BD0C-C70AEE868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64198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CFE2D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CFE2D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658119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2026-09-16T06:22:09.2940000Z</dcterms:created>
  <dcterms:modified xsi:type="dcterms:W3CDTF">2026-09-16T06:22:09.2940000Z</dcterms:modified>
</coreProperties>
</file>